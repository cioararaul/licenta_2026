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640080"/>
            <a:ext cx="121916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000" b="1">
                <a:solidFill>
                  <a:srgbClr val="F59E0B"/>
                </a:solidFill>
                <a:latin typeface="Calibri"/>
              </a:rPr>
              <a:t>LUCRARE DE LICENȚĂ  •  SESIUNEA IULIE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097280"/>
            <a:ext cx="1219169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CBD5E1"/>
                </a:solidFill>
                <a:latin typeface="Calibri"/>
              </a:rPr>
              <a:t>Universitatea din Oradea  •  Specializarea Calculatoare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13248" y="1874519"/>
            <a:ext cx="1371600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2194560"/>
            <a:ext cx="1219169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4600" b="1">
                <a:solidFill>
                  <a:srgbClr val="FFFFFF"/>
                </a:solidFill>
                <a:latin typeface="Calibri"/>
              </a:rPr>
              <a:t>Platformă web pentru vânzarea și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3017520"/>
            <a:ext cx="1219169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4600" b="1">
                <a:solidFill>
                  <a:srgbClr val="FFFFFF"/>
                </a:solidFill>
                <a:latin typeface="Calibri"/>
              </a:rPr>
              <a:t>cumpărarea automobilelor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4069080"/>
            <a:ext cx="1219169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000" b="0">
                <a:solidFill>
                  <a:srgbClr val="CBD5E1"/>
                </a:solidFill>
                <a:latin typeface="Calibri"/>
              </a:rPr>
              <a:t>utilizând NestJS și React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5486400"/>
            <a:ext cx="12191695" cy="1371600"/>
          </a:xfrm>
          <a:prstGeom prst="rect">
            <a:avLst/>
          </a:prstGeom>
          <a:solidFill>
            <a:srgbClr val="0714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5650992"/>
            <a:ext cx="5486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F59E0B"/>
                </a:solidFill>
                <a:latin typeface="Calibri"/>
              </a:rPr>
              <a:t>ABSOLVENT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989320"/>
            <a:ext cx="5486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Cioara Raul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5650992"/>
            <a:ext cx="53035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1">
                <a:solidFill>
                  <a:srgbClr val="F59E0B"/>
                </a:solidFill>
                <a:latin typeface="Calibri"/>
              </a:rPr>
              <a:t>COORDONATOR ȘTIINȚIFIC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5989320"/>
            <a:ext cx="5303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2400" b="1">
                <a:solidFill>
                  <a:srgbClr val="FFFFFF"/>
                </a:solidFill>
                <a:latin typeface="Calibri"/>
              </a:rPr>
              <a:t>Pecherle George-Dominic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F2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7315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9601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Cuprins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49808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CBD5E1"/>
                </a:solidFill>
                <a:latin typeface="Calibri"/>
              </a:rPr>
              <a:t>Structura prezentării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411480"/>
            <a:ext cx="1554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600" b="1">
                <a:solidFill>
                  <a:srgbClr val="CBD5E1"/>
                </a:solidFill>
                <a:latin typeface="Calibri"/>
              </a:rPr>
              <a:t>2 / 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828800"/>
            <a:ext cx="5486400" cy="45720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50000"/>
              </a:lnSpc>
              <a:spcAft>
                <a:spcPts val="1800"/>
              </a:spcAft>
            </a:pPr>
            <a:r>
              <a:rPr sz="3000" b="1">
                <a:solidFill>
                  <a:srgbClr val="F59E0B"/>
                </a:solidFill>
                <a:latin typeface="Calibri"/>
              </a:rPr>
              <a:t>●  </a:t>
            </a:r>
            <a:r>
              <a:rPr sz="3000">
                <a:solidFill>
                  <a:srgbClr val="1F2937"/>
                </a:solidFill>
                <a:latin typeface="Calibri"/>
              </a:rPr>
              <a:t>1.  Introducere</a:t>
            </a:r>
          </a:p>
          <a:p>
            <a:pPr algn="l">
              <a:lnSpc>
                <a:spcPct val="150000"/>
              </a:lnSpc>
              <a:spcAft>
                <a:spcPts val="1800"/>
              </a:spcAft>
            </a:pPr>
            <a:r>
              <a:rPr sz="3000" b="1">
                <a:solidFill>
                  <a:srgbClr val="F59E0B"/>
                </a:solidFill>
                <a:latin typeface="Calibri"/>
              </a:rPr>
              <a:t>●  </a:t>
            </a:r>
            <a:r>
              <a:rPr sz="3000">
                <a:solidFill>
                  <a:srgbClr val="1F2937"/>
                </a:solidFill>
                <a:latin typeface="Calibri"/>
              </a:rPr>
              <a:t>2.  Cerințe și utilizatori</a:t>
            </a:r>
          </a:p>
          <a:p>
            <a:pPr algn="l">
              <a:lnSpc>
                <a:spcPct val="150000"/>
              </a:lnSpc>
              <a:spcAft>
                <a:spcPts val="1800"/>
              </a:spcAft>
            </a:pPr>
            <a:r>
              <a:rPr sz="3000" b="1">
                <a:solidFill>
                  <a:srgbClr val="F59E0B"/>
                </a:solidFill>
                <a:latin typeface="Calibri"/>
              </a:rPr>
              <a:t>●  </a:t>
            </a:r>
            <a:r>
              <a:rPr sz="3000">
                <a:solidFill>
                  <a:srgbClr val="1F2937"/>
                </a:solidFill>
                <a:latin typeface="Calibri"/>
              </a:rPr>
              <a:t>3.  Tehnologii utilizate</a:t>
            </a:r>
          </a:p>
          <a:p>
            <a:pPr algn="l">
              <a:lnSpc>
                <a:spcPct val="150000"/>
              </a:lnSpc>
              <a:spcAft>
                <a:spcPts val="1800"/>
              </a:spcAft>
            </a:pPr>
            <a:r>
              <a:rPr sz="3000" b="1">
                <a:solidFill>
                  <a:srgbClr val="F59E0B"/>
                </a:solidFill>
                <a:latin typeface="Calibri"/>
              </a:rPr>
              <a:t>●  </a:t>
            </a:r>
            <a:r>
              <a:rPr sz="3000">
                <a:solidFill>
                  <a:srgbClr val="1F2937"/>
                </a:solidFill>
                <a:latin typeface="Calibri"/>
              </a:rPr>
              <a:t>4.  Proiectare și arhitectură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828800"/>
            <a:ext cx="5486400" cy="45720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50000"/>
              </a:lnSpc>
              <a:spcAft>
                <a:spcPts val="1800"/>
              </a:spcAft>
            </a:pPr>
            <a:r>
              <a:rPr sz="3000" b="1">
                <a:solidFill>
                  <a:srgbClr val="F59E0B"/>
                </a:solidFill>
                <a:latin typeface="Calibri"/>
              </a:rPr>
              <a:t>●  </a:t>
            </a:r>
            <a:r>
              <a:rPr sz="3000">
                <a:solidFill>
                  <a:srgbClr val="1F2937"/>
                </a:solidFill>
                <a:latin typeface="Calibri"/>
              </a:rPr>
              <a:t>5.  Implementarea aplicației</a:t>
            </a:r>
          </a:p>
          <a:p>
            <a:pPr algn="l">
              <a:lnSpc>
                <a:spcPct val="150000"/>
              </a:lnSpc>
              <a:spcAft>
                <a:spcPts val="1800"/>
              </a:spcAft>
            </a:pPr>
            <a:r>
              <a:rPr sz="3000" b="1">
                <a:solidFill>
                  <a:srgbClr val="F59E0B"/>
                </a:solidFill>
                <a:latin typeface="Calibri"/>
              </a:rPr>
              <a:t>●  </a:t>
            </a:r>
            <a:r>
              <a:rPr sz="3000">
                <a:solidFill>
                  <a:srgbClr val="1F2937"/>
                </a:solidFill>
                <a:latin typeface="Calibri"/>
              </a:rPr>
              <a:t>6.  Funcționalități avansate</a:t>
            </a:r>
          </a:p>
          <a:p>
            <a:pPr algn="l">
              <a:lnSpc>
                <a:spcPct val="150000"/>
              </a:lnSpc>
              <a:spcAft>
                <a:spcPts val="1800"/>
              </a:spcAft>
            </a:pPr>
            <a:r>
              <a:rPr sz="3000" b="1">
                <a:solidFill>
                  <a:srgbClr val="F59E0B"/>
                </a:solidFill>
                <a:latin typeface="Calibri"/>
              </a:rPr>
              <a:t>●  </a:t>
            </a:r>
            <a:r>
              <a:rPr sz="3000">
                <a:solidFill>
                  <a:srgbClr val="1F2937"/>
                </a:solidFill>
                <a:latin typeface="Calibri"/>
              </a:rPr>
              <a:t>7.  Concluzii și dezvoltări viitoare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714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CBD5E1"/>
                </a:solidFill>
                <a:latin typeface="Calibri"/>
              </a:rPr>
              <a:t>Licență 2026  •  AutoVault Marketplace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653796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CBD5E1"/>
                </a:solidFill>
                <a:latin typeface="Calibri"/>
              </a:rPr>
              <a:t>NestJS  •  React Router 7  •  TypeORM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41848" y="2286000"/>
            <a:ext cx="914400" cy="109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2514600"/>
            <a:ext cx="1219169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600" b="1">
                <a:solidFill>
                  <a:srgbClr val="F59E0B"/>
                </a:solidFill>
                <a:latin typeface="Calibri"/>
              </a:rPr>
              <a:t>CAPITOLUL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200400"/>
            <a:ext cx="12191695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5600" b="1">
                <a:solidFill>
                  <a:srgbClr val="FFFFFF"/>
                </a:solidFill>
                <a:latin typeface="Calibri"/>
              </a:rPr>
              <a:t>Introducere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169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400" b="0">
                <a:solidFill>
                  <a:srgbClr val="CBD5E1"/>
                </a:solidFill>
                <a:latin typeface="Calibri"/>
              </a:rPr>
              <a:t>Context, motivație și obiective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400800"/>
            <a:ext cx="1554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600" b="1">
                <a:solidFill>
                  <a:srgbClr val="CBD5E1"/>
                </a:solidFill>
                <a:latin typeface="Calibri"/>
              </a:rPr>
              <a:t>3 / 25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F2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7315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9601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Context și motivație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49808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CBD5E1"/>
                </a:solidFill>
                <a:latin typeface="Calibri"/>
              </a:rPr>
              <a:t>De ce un marketplace dedicat automobilelor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411480"/>
            <a:ext cx="1554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600" b="1">
                <a:solidFill>
                  <a:srgbClr val="CBD5E1"/>
                </a:solidFill>
                <a:latin typeface="Calibri"/>
              </a:rPr>
              <a:t>4 / 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783080"/>
            <a:ext cx="10515600" cy="45720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25000"/>
              </a:lnSpc>
              <a:spcAft>
                <a:spcPts val="1400"/>
              </a:spcAft>
            </a:pPr>
            <a:r>
              <a:rPr sz="2400" b="1">
                <a:solidFill>
                  <a:srgbClr val="F59E0B"/>
                </a:solidFill>
                <a:latin typeface="Calibri"/>
              </a:rPr>
              <a:t>●  </a:t>
            </a:r>
            <a:r>
              <a:rPr sz="2400">
                <a:solidFill>
                  <a:srgbClr val="1F2937"/>
                </a:solidFill>
                <a:latin typeface="Calibri"/>
              </a:rPr>
              <a:t>Piața auto second-hand din România depășește 1,5 miliarde EUR/an.</a:t>
            </a:r>
          </a:p>
          <a:p>
            <a:pPr algn="l">
              <a:lnSpc>
                <a:spcPct val="125000"/>
              </a:lnSpc>
              <a:spcAft>
                <a:spcPts val="1400"/>
              </a:spcAft>
            </a:pPr>
            <a:r>
              <a:rPr sz="2400" b="1">
                <a:solidFill>
                  <a:srgbClr val="F59E0B"/>
                </a:solidFill>
                <a:latin typeface="Calibri"/>
              </a:rPr>
              <a:t>●  </a:t>
            </a:r>
            <a:r>
              <a:rPr sz="2400">
                <a:solidFill>
                  <a:srgbClr val="1F2937"/>
                </a:solidFill>
                <a:latin typeface="Calibri"/>
              </a:rPr>
              <a:t>Tranzacțiile online cresc cu 20-30% anual.</a:t>
            </a:r>
          </a:p>
          <a:p>
            <a:pPr algn="l">
              <a:lnSpc>
                <a:spcPct val="125000"/>
              </a:lnSpc>
              <a:spcAft>
                <a:spcPts val="1400"/>
              </a:spcAft>
            </a:pPr>
            <a:r>
              <a:rPr sz="2400" b="1">
                <a:solidFill>
                  <a:srgbClr val="F59E0B"/>
                </a:solidFill>
                <a:latin typeface="Calibri"/>
              </a:rPr>
              <a:t>●  </a:t>
            </a:r>
            <a:r>
              <a:rPr sz="2400">
                <a:solidFill>
                  <a:srgbClr val="1F2937"/>
                </a:solidFill>
                <a:latin typeface="Calibri"/>
              </a:rPr>
              <a:t>Piața rămâne fragmentată, fără un standard clar.</a:t>
            </a:r>
          </a:p>
          <a:p>
            <a:pPr algn="l">
              <a:lnSpc>
                <a:spcPct val="125000"/>
              </a:lnSpc>
              <a:spcAft>
                <a:spcPts val="1400"/>
              </a:spcAft>
            </a:pPr>
            <a:r>
              <a:rPr sz="2400" b="1">
                <a:solidFill>
                  <a:srgbClr val="F59E0B"/>
                </a:solidFill>
                <a:latin typeface="Calibri"/>
              </a:rPr>
              <a:t>●  </a:t>
            </a:r>
            <a:r>
              <a:rPr sz="2400">
                <a:solidFill>
                  <a:srgbClr val="1F2937"/>
                </a:solidFill>
                <a:latin typeface="Calibri"/>
              </a:rPr>
              <a:t>Cumpărătorii caută transparență și comunicare directă.</a:t>
            </a:r>
          </a:p>
          <a:p>
            <a:pPr algn="l">
              <a:lnSpc>
                <a:spcPct val="125000"/>
              </a:lnSpc>
              <a:spcAft>
                <a:spcPts val="1400"/>
              </a:spcAft>
            </a:pPr>
            <a:r>
              <a:rPr sz="2400" b="1">
                <a:solidFill>
                  <a:srgbClr val="F59E0B"/>
                </a:solidFill>
                <a:latin typeface="Calibri"/>
              </a:rPr>
              <a:t>●  </a:t>
            </a:r>
            <a:r>
              <a:rPr sz="2400">
                <a:solidFill>
                  <a:srgbClr val="1F2937"/>
                </a:solidFill>
                <a:latin typeface="Calibri"/>
              </a:rPr>
              <a:t>Vânzătorii au nevoie de vizibilitate și gestiune simplă.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714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CBD5E1"/>
                </a:solidFill>
                <a:latin typeface="Calibri"/>
              </a:rPr>
              <a:t>Licență 2026  •  AutoVault Marketplace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53796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CBD5E1"/>
                </a:solidFill>
                <a:latin typeface="Calibri"/>
              </a:rPr>
              <a:t>NestJS  •  React Router 7  •  TypeORM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F2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7315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9601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Obiectivele proiectului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411480"/>
            <a:ext cx="1554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600" b="1">
                <a:solidFill>
                  <a:srgbClr val="CBD5E1"/>
                </a:solidFill>
                <a:latin typeface="Calibri"/>
              </a:rPr>
              <a:t>5 / 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783080"/>
            <a:ext cx="10515600" cy="45720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25000"/>
              </a:lnSpc>
              <a:spcAft>
                <a:spcPts val="1400"/>
              </a:spcAft>
            </a:pPr>
            <a:r>
              <a:rPr sz="2400" b="1">
                <a:solidFill>
                  <a:srgbClr val="F59E0B"/>
                </a:solidFill>
                <a:latin typeface="Calibri"/>
              </a:rPr>
              <a:t>●  </a:t>
            </a:r>
            <a:r>
              <a:rPr sz="2400">
                <a:solidFill>
                  <a:srgbClr val="1F2937"/>
                </a:solidFill>
                <a:latin typeface="Calibri"/>
              </a:rPr>
              <a:t>Platformă web full-stack funcțională end-to-end.</a:t>
            </a:r>
          </a:p>
          <a:p>
            <a:pPr algn="l">
              <a:lnSpc>
                <a:spcPct val="125000"/>
              </a:lnSpc>
              <a:spcAft>
                <a:spcPts val="1400"/>
              </a:spcAft>
            </a:pPr>
            <a:r>
              <a:rPr sz="2400" b="1">
                <a:solidFill>
                  <a:srgbClr val="F59E0B"/>
                </a:solidFill>
                <a:latin typeface="Calibri"/>
              </a:rPr>
              <a:t>●  </a:t>
            </a:r>
            <a:r>
              <a:rPr sz="2400">
                <a:solidFill>
                  <a:srgbClr val="1F2937"/>
                </a:solidFill>
                <a:latin typeface="Calibri"/>
              </a:rPr>
              <a:t>Suport pentru patru roluri distincte cu acces granular.</a:t>
            </a:r>
          </a:p>
          <a:p>
            <a:pPr algn="l">
              <a:lnSpc>
                <a:spcPct val="125000"/>
              </a:lnSpc>
              <a:spcAft>
                <a:spcPts val="1400"/>
              </a:spcAft>
            </a:pPr>
            <a:r>
              <a:rPr sz="2400" b="1">
                <a:solidFill>
                  <a:srgbClr val="F59E0B"/>
                </a:solidFill>
                <a:latin typeface="Calibri"/>
              </a:rPr>
              <a:t>●  </a:t>
            </a:r>
            <a:r>
              <a:rPr sz="2400">
                <a:solidFill>
                  <a:srgbClr val="1F2937"/>
                </a:solidFill>
                <a:latin typeface="Calibri"/>
              </a:rPr>
              <a:t>Autentificare securizată: JWT, OAuth, verificare email.</a:t>
            </a:r>
          </a:p>
          <a:p>
            <a:pPr algn="l">
              <a:lnSpc>
                <a:spcPct val="125000"/>
              </a:lnSpc>
              <a:spcAft>
                <a:spcPts val="1400"/>
              </a:spcAft>
            </a:pPr>
            <a:r>
              <a:rPr sz="2400" b="1">
                <a:solidFill>
                  <a:srgbClr val="F59E0B"/>
                </a:solidFill>
                <a:latin typeface="Calibri"/>
              </a:rPr>
              <a:t>●  </a:t>
            </a:r>
            <a:r>
              <a:rPr sz="2400">
                <a:solidFill>
                  <a:srgbClr val="1F2937"/>
                </a:solidFill>
                <a:latin typeface="Calibri"/>
              </a:rPr>
              <a:t>Sistem complet de bid-uri, mesagerie și portofel.</a:t>
            </a:r>
          </a:p>
          <a:p>
            <a:pPr algn="l">
              <a:lnSpc>
                <a:spcPct val="125000"/>
              </a:lnSpc>
              <a:spcAft>
                <a:spcPts val="1400"/>
              </a:spcAft>
            </a:pPr>
            <a:r>
              <a:rPr sz="2400" b="1">
                <a:solidFill>
                  <a:srgbClr val="F59E0B"/>
                </a:solidFill>
                <a:latin typeface="Calibri"/>
              </a:rPr>
              <a:t>●  </a:t>
            </a:r>
            <a:r>
              <a:rPr sz="2400">
                <a:solidFill>
                  <a:srgbClr val="1F2937"/>
                </a:solidFill>
                <a:latin typeface="Calibri"/>
              </a:rPr>
              <a:t>Arhitectură modulară, testată și extensibilă.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714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CBD5E1"/>
                </a:solidFill>
                <a:latin typeface="Calibri"/>
              </a:rPr>
              <a:t>Licență 2026  •  AutoVault Marketplace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653796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CBD5E1"/>
                </a:solidFill>
                <a:latin typeface="Calibri"/>
              </a:rPr>
              <a:t>NestJS  •  React Router 7  •  TypeORM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41848" y="2286000"/>
            <a:ext cx="914400" cy="109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2514600"/>
            <a:ext cx="1219169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600" b="1">
                <a:solidFill>
                  <a:srgbClr val="F59E0B"/>
                </a:solidFill>
                <a:latin typeface="Calibri"/>
              </a:rPr>
              <a:t>CAPITOLUL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200400"/>
            <a:ext cx="12191695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5600" b="1">
                <a:solidFill>
                  <a:srgbClr val="FFFFFF"/>
                </a:solidFill>
                <a:latin typeface="Calibri"/>
              </a:rPr>
              <a:t>Cerințe și utilizatori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169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400" b="0">
                <a:solidFill>
                  <a:srgbClr val="CBD5E1"/>
                </a:solidFill>
                <a:latin typeface="Calibri"/>
              </a:rPr>
              <a:t>Roluri, cerințe funcționale și nefuncționale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400800"/>
            <a:ext cx="1554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600" b="1">
                <a:solidFill>
                  <a:srgbClr val="CBD5E1"/>
                </a:solidFill>
                <a:latin typeface="Calibri"/>
              </a:rPr>
              <a:t>6 / 25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F2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7315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9601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Tipuri de utilizatori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49808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CBD5E1"/>
                </a:solidFill>
                <a:latin typeface="Calibri"/>
              </a:rPr>
              <a:t>Patru roluri cu acces granular pe resurse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411480"/>
            <a:ext cx="1554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600" b="1">
                <a:solidFill>
                  <a:srgbClr val="CBD5E1"/>
                </a:solidFill>
                <a:latin typeface="Calibri"/>
              </a:rPr>
              <a:t>7 / 25</a:t>
            </a:r>
          </a:p>
        </p:txBody>
      </p:sp>
      <p:sp>
        <p:nvSpPr>
          <p:cNvPr id="7" name="Rectangle 6"/>
          <p:cNvSpPr/>
          <p:nvPr/>
        </p:nvSpPr>
        <p:spPr>
          <a:xfrm>
            <a:off x="448056" y="1737360"/>
            <a:ext cx="5669280" cy="224028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480" y="1691640"/>
            <a:ext cx="5669280" cy="224028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11480" y="1691640"/>
            <a:ext cx="1600200" cy="2240280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2194560"/>
            <a:ext cx="16002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BUYER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2743200"/>
            <a:ext cx="1600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E5E7EB"/>
                </a:solidFill>
                <a:latin typeface="Calibri"/>
              </a:rPr>
              <a:t>cumpărător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94560" y="1920240"/>
            <a:ext cx="3749040" cy="18745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22000"/>
              </a:lnSpc>
              <a:spcAft>
                <a:spcPts val="800"/>
              </a:spcAft>
            </a:pPr>
            <a:r>
              <a:rPr sz="1600" b="1">
                <a:solidFill>
                  <a:srgbClr val="F59E0B"/>
                </a:solidFill>
                <a:latin typeface="Calibri"/>
              </a:rPr>
              <a:t>●  </a:t>
            </a:r>
            <a:r>
              <a:rPr sz="1600">
                <a:solidFill>
                  <a:srgbClr val="1F2937"/>
                </a:solidFill>
                <a:latin typeface="Calibri"/>
              </a:rPr>
              <a:t>Caută și filtrează vehicule.</a:t>
            </a:r>
          </a:p>
          <a:p>
            <a:pPr algn="l">
              <a:lnSpc>
                <a:spcPct val="122000"/>
              </a:lnSpc>
              <a:spcAft>
                <a:spcPts val="800"/>
              </a:spcAft>
            </a:pPr>
            <a:r>
              <a:rPr sz="1600" b="1">
                <a:solidFill>
                  <a:srgbClr val="F59E0B"/>
                </a:solidFill>
                <a:latin typeface="Calibri"/>
              </a:rPr>
              <a:t>●  </a:t>
            </a:r>
            <a:r>
              <a:rPr sz="1600">
                <a:solidFill>
                  <a:srgbClr val="1F2937"/>
                </a:solidFill>
                <a:latin typeface="Calibri"/>
              </a:rPr>
              <a:t>Salvează favorite, compară mașini.</a:t>
            </a:r>
          </a:p>
          <a:p>
            <a:pPr algn="l">
              <a:lnSpc>
                <a:spcPct val="122000"/>
              </a:lnSpc>
              <a:spcAft>
                <a:spcPts val="800"/>
              </a:spcAft>
            </a:pPr>
            <a:r>
              <a:rPr sz="1600" b="1">
                <a:solidFill>
                  <a:srgbClr val="F59E0B"/>
                </a:solidFill>
                <a:latin typeface="Calibri"/>
              </a:rPr>
              <a:t>●  </a:t>
            </a:r>
            <a:r>
              <a:rPr sz="1600">
                <a:solidFill>
                  <a:srgbClr val="1F2937"/>
                </a:solidFill>
                <a:latin typeface="Calibri"/>
              </a:rPr>
              <a:t>Plasează oferte (bids) pe vehicule.</a:t>
            </a:r>
          </a:p>
          <a:p>
            <a:pPr algn="l">
              <a:lnSpc>
                <a:spcPct val="122000"/>
              </a:lnSpc>
              <a:spcAft>
                <a:spcPts val="800"/>
              </a:spcAft>
            </a:pPr>
            <a:r>
              <a:rPr sz="1600" b="1">
                <a:solidFill>
                  <a:srgbClr val="F59E0B"/>
                </a:solidFill>
                <a:latin typeface="Calibri"/>
              </a:rPr>
              <a:t>●  </a:t>
            </a:r>
            <a:r>
              <a:rPr sz="1600">
                <a:solidFill>
                  <a:srgbClr val="1F2937"/>
                </a:solidFill>
                <a:latin typeface="Calibri"/>
              </a:rPr>
              <a:t>Comunică prin mesagerie.</a:t>
            </a:r>
          </a:p>
          <a:p>
            <a:pPr algn="l">
              <a:lnSpc>
                <a:spcPct val="122000"/>
              </a:lnSpc>
              <a:spcAft>
                <a:spcPts val="800"/>
              </a:spcAft>
            </a:pPr>
            <a:r>
              <a:rPr sz="1600" b="1">
                <a:solidFill>
                  <a:srgbClr val="F59E0B"/>
                </a:solidFill>
                <a:latin typeface="Calibri"/>
              </a:rPr>
              <a:t>●  </a:t>
            </a:r>
            <a:r>
              <a:rPr sz="1600">
                <a:solidFill>
                  <a:srgbClr val="1F2937"/>
                </a:solidFill>
                <a:latin typeface="Calibri"/>
              </a:rPr>
              <a:t>Wallet cu sume blocate.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36208" y="1737360"/>
            <a:ext cx="5669280" cy="224028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99632" y="1691640"/>
            <a:ext cx="5669280" cy="224028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99632" y="1691640"/>
            <a:ext cx="1600200" cy="224028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99632" y="2194560"/>
            <a:ext cx="16002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SELLER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99632" y="2743200"/>
            <a:ext cx="1600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E5E7EB"/>
                </a:solidFill>
                <a:latin typeface="Calibri"/>
              </a:rPr>
              <a:t>vânzător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82712" y="1920240"/>
            <a:ext cx="3749040" cy="18745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22000"/>
              </a:lnSpc>
              <a:spcAft>
                <a:spcPts val="800"/>
              </a:spcAft>
            </a:pPr>
            <a:r>
              <a:rPr sz="1600" b="1">
                <a:solidFill>
                  <a:srgbClr val="F59E0B"/>
                </a:solidFill>
                <a:latin typeface="Calibri"/>
              </a:rPr>
              <a:t>●  </a:t>
            </a:r>
            <a:r>
              <a:rPr sz="1600">
                <a:solidFill>
                  <a:srgbClr val="1F2937"/>
                </a:solidFill>
                <a:latin typeface="Calibri"/>
              </a:rPr>
              <a:t>Adaugă anunțuri detaliate.</a:t>
            </a:r>
          </a:p>
          <a:p>
            <a:pPr algn="l">
              <a:lnSpc>
                <a:spcPct val="122000"/>
              </a:lnSpc>
              <a:spcAft>
                <a:spcPts val="800"/>
              </a:spcAft>
            </a:pPr>
            <a:r>
              <a:rPr sz="1600" b="1">
                <a:solidFill>
                  <a:srgbClr val="F59E0B"/>
                </a:solidFill>
                <a:latin typeface="Calibri"/>
              </a:rPr>
              <a:t>●  </a:t>
            </a:r>
            <a:r>
              <a:rPr sz="1600">
                <a:solidFill>
                  <a:srgbClr val="1F2937"/>
                </a:solidFill>
                <a:latin typeface="Calibri"/>
              </a:rPr>
              <a:t>Editează / marchează ca SOLD.</a:t>
            </a:r>
          </a:p>
          <a:p>
            <a:pPr algn="l">
              <a:lnSpc>
                <a:spcPct val="122000"/>
              </a:lnSpc>
              <a:spcAft>
                <a:spcPts val="800"/>
              </a:spcAft>
            </a:pPr>
            <a:r>
              <a:rPr sz="1600" b="1">
                <a:solidFill>
                  <a:srgbClr val="F59E0B"/>
                </a:solidFill>
                <a:latin typeface="Calibri"/>
              </a:rPr>
              <a:t>●  </a:t>
            </a:r>
            <a:r>
              <a:rPr sz="1600">
                <a:solidFill>
                  <a:srgbClr val="1F2937"/>
                </a:solidFill>
                <a:latin typeface="Calibri"/>
              </a:rPr>
              <a:t>Acceptă sau respinge oferte.</a:t>
            </a:r>
          </a:p>
          <a:p>
            <a:pPr algn="l">
              <a:lnSpc>
                <a:spcPct val="122000"/>
              </a:lnSpc>
              <a:spcAft>
                <a:spcPts val="800"/>
              </a:spcAft>
            </a:pPr>
            <a:r>
              <a:rPr sz="1600" b="1">
                <a:solidFill>
                  <a:srgbClr val="F59E0B"/>
                </a:solidFill>
                <a:latin typeface="Calibri"/>
              </a:rPr>
              <a:t>●  </a:t>
            </a:r>
            <a:r>
              <a:rPr sz="1600">
                <a:solidFill>
                  <a:srgbClr val="1F2937"/>
                </a:solidFill>
                <a:latin typeface="Calibri"/>
              </a:rPr>
              <a:t>Comunică cu cumpărători.</a:t>
            </a:r>
          </a:p>
          <a:p>
            <a:pPr algn="l">
              <a:lnSpc>
                <a:spcPct val="122000"/>
              </a:lnSpc>
              <a:spcAft>
                <a:spcPts val="800"/>
              </a:spcAft>
            </a:pPr>
            <a:r>
              <a:rPr sz="1600" b="1">
                <a:solidFill>
                  <a:srgbClr val="F59E0B"/>
                </a:solidFill>
                <a:latin typeface="Calibri"/>
              </a:rPr>
              <a:t>●  </a:t>
            </a:r>
            <a:r>
              <a:rPr sz="1600">
                <a:solidFill>
                  <a:srgbClr val="1F2937"/>
                </a:solidFill>
                <a:latin typeface="Calibri"/>
              </a:rPr>
              <a:t>Vede câștiguri și comisioane.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8056" y="4142232"/>
            <a:ext cx="5669280" cy="224028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11480" y="4096512"/>
            <a:ext cx="5669280" cy="224028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11480" y="4096512"/>
            <a:ext cx="1600200" cy="224028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1480" y="4599432"/>
            <a:ext cx="16002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GUEST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" y="5148072"/>
            <a:ext cx="1600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E5E7EB"/>
                </a:solidFill>
                <a:latin typeface="Calibri"/>
              </a:rPr>
              <a:t>vizitator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94560" y="4325112"/>
            <a:ext cx="3749040" cy="18745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22000"/>
              </a:lnSpc>
              <a:spcAft>
                <a:spcPts val="800"/>
              </a:spcAft>
            </a:pPr>
            <a:r>
              <a:rPr sz="1600" b="1">
                <a:solidFill>
                  <a:srgbClr val="F59E0B"/>
                </a:solidFill>
                <a:latin typeface="Calibri"/>
              </a:rPr>
              <a:t>●  </a:t>
            </a:r>
            <a:r>
              <a:rPr sz="1600">
                <a:solidFill>
                  <a:srgbClr val="1F2937"/>
                </a:solidFill>
                <a:latin typeface="Calibri"/>
              </a:rPr>
              <a:t>Acces public la anunțuri.</a:t>
            </a:r>
          </a:p>
          <a:p>
            <a:pPr algn="l">
              <a:lnSpc>
                <a:spcPct val="122000"/>
              </a:lnSpc>
              <a:spcAft>
                <a:spcPts val="800"/>
              </a:spcAft>
            </a:pPr>
            <a:r>
              <a:rPr sz="1600" b="1">
                <a:solidFill>
                  <a:srgbClr val="F59E0B"/>
                </a:solidFill>
                <a:latin typeface="Calibri"/>
              </a:rPr>
              <a:t>●  </a:t>
            </a:r>
            <a:r>
              <a:rPr sz="1600">
                <a:solidFill>
                  <a:srgbClr val="1F2937"/>
                </a:solidFill>
                <a:latin typeface="Calibri"/>
              </a:rPr>
              <a:t>Vede detalii complete.</a:t>
            </a:r>
          </a:p>
          <a:p>
            <a:pPr algn="l">
              <a:lnSpc>
                <a:spcPct val="122000"/>
              </a:lnSpc>
              <a:spcAft>
                <a:spcPts val="800"/>
              </a:spcAft>
            </a:pPr>
            <a:r>
              <a:rPr sz="1600" b="1">
                <a:solidFill>
                  <a:srgbClr val="F59E0B"/>
                </a:solidFill>
                <a:latin typeface="Calibri"/>
              </a:rPr>
              <a:t>●  </a:t>
            </a:r>
            <a:r>
              <a:rPr sz="1600">
                <a:solidFill>
                  <a:srgbClr val="1F2937"/>
                </a:solidFill>
                <a:latin typeface="Calibri"/>
              </a:rPr>
              <a:t>Nu poate salva sau oferta.</a:t>
            </a:r>
          </a:p>
          <a:p>
            <a:pPr algn="l">
              <a:lnSpc>
                <a:spcPct val="122000"/>
              </a:lnSpc>
              <a:spcAft>
                <a:spcPts val="800"/>
              </a:spcAft>
            </a:pPr>
            <a:r>
              <a:rPr sz="1600" b="1">
                <a:solidFill>
                  <a:srgbClr val="F59E0B"/>
                </a:solidFill>
                <a:latin typeface="Calibri"/>
              </a:rPr>
              <a:t>●  </a:t>
            </a:r>
            <a:r>
              <a:rPr sz="1600">
                <a:solidFill>
                  <a:srgbClr val="1F2937"/>
                </a:solidFill>
                <a:latin typeface="Calibri"/>
              </a:rPr>
              <a:t>Invitat să se autentifice.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36208" y="4142232"/>
            <a:ext cx="5669280" cy="224028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99632" y="4096512"/>
            <a:ext cx="5669280" cy="224028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99632" y="4096512"/>
            <a:ext cx="1600200" cy="2240280"/>
          </a:xfrm>
          <a:prstGeom prst="rect">
            <a:avLst/>
          </a:prstGeom>
          <a:solidFill>
            <a:srgbClr val="0F2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199632" y="4599432"/>
            <a:ext cx="16002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ADMIN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99632" y="5148072"/>
            <a:ext cx="1600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E5E7EB"/>
                </a:solidFill>
                <a:latin typeface="Calibri"/>
              </a:rPr>
              <a:t>administrator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82712" y="4325112"/>
            <a:ext cx="3749040" cy="18745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22000"/>
              </a:lnSpc>
              <a:spcAft>
                <a:spcPts val="800"/>
              </a:spcAft>
            </a:pPr>
            <a:r>
              <a:rPr sz="1600" b="1">
                <a:solidFill>
                  <a:srgbClr val="F59E0B"/>
                </a:solidFill>
                <a:latin typeface="Calibri"/>
              </a:rPr>
              <a:t>●  </a:t>
            </a:r>
            <a:r>
              <a:rPr sz="1600">
                <a:solidFill>
                  <a:srgbClr val="1F2937"/>
                </a:solidFill>
                <a:latin typeface="Calibri"/>
              </a:rPr>
              <a:t>Rapoarte agregate.</a:t>
            </a:r>
          </a:p>
          <a:p>
            <a:pPr algn="l">
              <a:lnSpc>
                <a:spcPct val="122000"/>
              </a:lnSpc>
              <a:spcAft>
                <a:spcPts val="800"/>
              </a:spcAft>
            </a:pPr>
            <a:r>
              <a:rPr sz="1600" b="1">
                <a:solidFill>
                  <a:srgbClr val="F59E0B"/>
                </a:solidFill>
                <a:latin typeface="Calibri"/>
              </a:rPr>
              <a:t>●  </a:t>
            </a:r>
            <a:r>
              <a:rPr sz="1600">
                <a:solidFill>
                  <a:srgbClr val="1F2937"/>
                </a:solidFill>
                <a:latin typeface="Calibri"/>
              </a:rPr>
              <a:t>Pregătit la nivel de entitate.</a:t>
            </a:r>
          </a:p>
          <a:p>
            <a:pPr algn="l">
              <a:lnSpc>
                <a:spcPct val="122000"/>
              </a:lnSpc>
              <a:spcAft>
                <a:spcPts val="800"/>
              </a:spcAft>
            </a:pPr>
            <a:r>
              <a:rPr sz="1600" b="1">
                <a:solidFill>
                  <a:srgbClr val="F59E0B"/>
                </a:solidFill>
                <a:latin typeface="Calibri"/>
              </a:rPr>
              <a:t>●  </a:t>
            </a:r>
            <a:r>
              <a:rPr sz="1600">
                <a:solidFill>
                  <a:srgbClr val="1F2937"/>
                </a:solidFill>
                <a:latin typeface="Calibri"/>
              </a:rPr>
              <a:t>Extensibil pentru moderare.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714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CBD5E1"/>
                </a:solidFill>
                <a:latin typeface="Calibri"/>
              </a:rPr>
              <a:t>Licență 2026  •  AutoVault Marketplace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86800" y="653796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CBD5E1"/>
                </a:solidFill>
                <a:latin typeface="Calibri"/>
              </a:rPr>
              <a:t>NestJS  •  React Router 7  •  TypeORM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F2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7315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9601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Cerințe funcționale și nefuncționale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411480"/>
            <a:ext cx="1554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600" b="1">
                <a:solidFill>
                  <a:srgbClr val="CBD5E1"/>
                </a:solidFill>
                <a:latin typeface="Calibri"/>
              </a:rPr>
              <a:t>8 / 25</a:t>
            </a:r>
          </a:p>
        </p:txBody>
      </p:sp>
      <p:sp>
        <p:nvSpPr>
          <p:cNvPr id="6" name="Rectangle 5"/>
          <p:cNvSpPr/>
          <p:nvPr/>
        </p:nvSpPr>
        <p:spPr>
          <a:xfrm>
            <a:off x="493776" y="1737360"/>
            <a:ext cx="5577840" cy="470916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691640"/>
            <a:ext cx="5577840" cy="470916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91640"/>
            <a:ext cx="5577840" cy="731520"/>
          </a:xfrm>
          <a:prstGeom prst="rect">
            <a:avLst/>
          </a:prstGeom>
          <a:solidFill>
            <a:srgbClr val="0F2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691640"/>
            <a:ext cx="557784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Funcționale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606040"/>
            <a:ext cx="5029200" cy="36576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20000"/>
              </a:lnSpc>
              <a:spcAft>
                <a:spcPts val="1000"/>
              </a:spcAft>
            </a:pPr>
            <a:r>
              <a:rPr sz="1800" b="1">
                <a:solidFill>
                  <a:srgbClr val="F59E0B"/>
                </a:solidFill>
                <a:latin typeface="Calibri"/>
              </a:rPr>
              <a:t>●  </a:t>
            </a:r>
            <a:r>
              <a:rPr sz="1800">
                <a:solidFill>
                  <a:srgbClr val="1F2937"/>
                </a:solidFill>
                <a:latin typeface="Calibri"/>
              </a:rPr>
              <a:t>Autentificare locală + OAuth.</a:t>
            </a:r>
          </a:p>
          <a:p>
            <a:pPr algn="l">
              <a:lnSpc>
                <a:spcPct val="120000"/>
              </a:lnSpc>
              <a:spcAft>
                <a:spcPts val="1000"/>
              </a:spcAft>
            </a:pPr>
            <a:r>
              <a:rPr sz="1800" b="1">
                <a:solidFill>
                  <a:srgbClr val="F59E0B"/>
                </a:solidFill>
                <a:latin typeface="Calibri"/>
              </a:rPr>
              <a:t>●  </a:t>
            </a:r>
            <a:r>
              <a:rPr sz="1800">
                <a:solidFill>
                  <a:srgbClr val="1F2937"/>
                </a:solidFill>
                <a:latin typeface="Calibri"/>
              </a:rPr>
              <a:t>CRUD complet pe anunțuri.</a:t>
            </a:r>
          </a:p>
          <a:p>
            <a:pPr algn="l">
              <a:lnSpc>
                <a:spcPct val="120000"/>
              </a:lnSpc>
              <a:spcAft>
                <a:spcPts val="1000"/>
              </a:spcAft>
            </a:pPr>
            <a:r>
              <a:rPr sz="1800" b="1">
                <a:solidFill>
                  <a:srgbClr val="F59E0B"/>
                </a:solidFill>
                <a:latin typeface="Calibri"/>
              </a:rPr>
              <a:t>●  </a:t>
            </a:r>
            <a:r>
              <a:rPr sz="1800">
                <a:solidFill>
                  <a:srgbClr val="1F2937"/>
                </a:solidFill>
                <a:latin typeface="Calibri"/>
              </a:rPr>
              <a:t>Bid-uri cu stări multiple.</a:t>
            </a:r>
          </a:p>
          <a:p>
            <a:pPr algn="l">
              <a:lnSpc>
                <a:spcPct val="120000"/>
              </a:lnSpc>
              <a:spcAft>
                <a:spcPts val="1000"/>
              </a:spcAft>
            </a:pPr>
            <a:r>
              <a:rPr sz="1800" b="1">
                <a:solidFill>
                  <a:srgbClr val="F59E0B"/>
                </a:solidFill>
                <a:latin typeface="Calibri"/>
              </a:rPr>
              <a:t>●  </a:t>
            </a:r>
            <a:r>
              <a:rPr sz="1800">
                <a:solidFill>
                  <a:srgbClr val="1F2937"/>
                </a:solidFill>
                <a:latin typeface="Calibri"/>
              </a:rPr>
              <a:t>Mesagerie cu unread tracking.</a:t>
            </a:r>
          </a:p>
          <a:p>
            <a:pPr algn="l">
              <a:lnSpc>
                <a:spcPct val="120000"/>
              </a:lnSpc>
              <a:spcAft>
                <a:spcPts val="1000"/>
              </a:spcAft>
            </a:pPr>
            <a:r>
              <a:rPr sz="1800" b="1">
                <a:solidFill>
                  <a:srgbClr val="F59E0B"/>
                </a:solidFill>
                <a:latin typeface="Calibri"/>
              </a:rPr>
              <a:t>●  </a:t>
            </a:r>
            <a:r>
              <a:rPr sz="1800">
                <a:solidFill>
                  <a:srgbClr val="1F2937"/>
                </a:solidFill>
                <a:latin typeface="Calibri"/>
              </a:rPr>
              <a:t>Wallet cu sume blocate.</a:t>
            </a:r>
          </a:p>
          <a:p>
            <a:pPr algn="l">
              <a:lnSpc>
                <a:spcPct val="120000"/>
              </a:lnSpc>
              <a:spcAft>
                <a:spcPts val="1000"/>
              </a:spcAft>
            </a:pPr>
            <a:r>
              <a:rPr sz="1800" b="1">
                <a:solidFill>
                  <a:srgbClr val="F59E0B"/>
                </a:solidFill>
                <a:latin typeface="Calibri"/>
              </a:rPr>
              <a:t>●  </a:t>
            </a:r>
            <a:r>
              <a:rPr sz="1800">
                <a:solidFill>
                  <a:srgbClr val="1F2937"/>
                </a:solidFill>
                <a:latin typeface="Calibri"/>
              </a:rPr>
              <a:t>Recomandări vehicule similare.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90488" y="1737360"/>
            <a:ext cx="5577840" cy="470916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53912" y="1691640"/>
            <a:ext cx="5577840" cy="470916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53912" y="1691640"/>
            <a:ext cx="5577840" cy="731520"/>
          </a:xfrm>
          <a:prstGeom prst="rect">
            <a:avLst/>
          </a:prstGeom>
          <a:solidFill>
            <a:srgbClr val="0F2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53912" y="1691640"/>
            <a:ext cx="557784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Nefuncționale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73952" y="2606040"/>
            <a:ext cx="5029200" cy="36576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20000"/>
              </a:lnSpc>
              <a:spcAft>
                <a:spcPts val="1000"/>
              </a:spcAft>
            </a:pPr>
            <a:r>
              <a:rPr sz="1800" b="1">
                <a:solidFill>
                  <a:srgbClr val="F59E0B"/>
                </a:solidFill>
                <a:latin typeface="Calibri"/>
              </a:rPr>
              <a:t>●  </a:t>
            </a:r>
            <a:r>
              <a:rPr sz="1800">
                <a:solidFill>
                  <a:srgbClr val="1F2937"/>
                </a:solidFill>
                <a:latin typeface="Calibri"/>
              </a:rPr>
              <a:t>Securitate: JWT, scrypt, CORS.</a:t>
            </a:r>
          </a:p>
          <a:p>
            <a:pPr algn="l">
              <a:lnSpc>
                <a:spcPct val="120000"/>
              </a:lnSpc>
              <a:spcAft>
                <a:spcPts val="1000"/>
              </a:spcAft>
            </a:pPr>
            <a:r>
              <a:rPr sz="1800" b="1">
                <a:solidFill>
                  <a:srgbClr val="F59E0B"/>
                </a:solidFill>
                <a:latin typeface="Calibri"/>
              </a:rPr>
              <a:t>●  </a:t>
            </a:r>
            <a:r>
              <a:rPr sz="1800">
                <a:solidFill>
                  <a:srgbClr val="1F2937"/>
                </a:solidFill>
                <a:latin typeface="Calibri"/>
              </a:rPr>
              <a:t>Throttling pe endpoint-uri sensibile.</a:t>
            </a:r>
          </a:p>
          <a:p>
            <a:pPr algn="l">
              <a:lnSpc>
                <a:spcPct val="120000"/>
              </a:lnSpc>
              <a:spcAft>
                <a:spcPts val="1000"/>
              </a:spcAft>
            </a:pPr>
            <a:r>
              <a:rPr sz="1800" b="1">
                <a:solidFill>
                  <a:srgbClr val="F59E0B"/>
                </a:solidFill>
                <a:latin typeface="Calibri"/>
              </a:rPr>
              <a:t>●  </a:t>
            </a:r>
            <a:r>
              <a:rPr sz="1800">
                <a:solidFill>
                  <a:srgbClr val="1F2937"/>
                </a:solidFill>
                <a:latin typeface="Calibri"/>
              </a:rPr>
              <a:t>Performanță: paginare și SSR.</a:t>
            </a:r>
          </a:p>
          <a:p>
            <a:pPr algn="l">
              <a:lnSpc>
                <a:spcPct val="120000"/>
              </a:lnSpc>
              <a:spcAft>
                <a:spcPts val="1000"/>
              </a:spcAft>
            </a:pPr>
            <a:r>
              <a:rPr sz="1800" b="1">
                <a:solidFill>
                  <a:srgbClr val="F59E0B"/>
                </a:solidFill>
                <a:latin typeface="Calibri"/>
              </a:rPr>
              <a:t>●  </a:t>
            </a:r>
            <a:r>
              <a:rPr sz="1800">
                <a:solidFill>
                  <a:srgbClr val="1F2937"/>
                </a:solidFill>
                <a:latin typeface="Calibri"/>
              </a:rPr>
              <a:t>Disponibilitate: SQLite WAL.</a:t>
            </a:r>
          </a:p>
          <a:p>
            <a:pPr algn="l">
              <a:lnSpc>
                <a:spcPct val="120000"/>
              </a:lnSpc>
              <a:spcAft>
                <a:spcPts val="1000"/>
              </a:spcAft>
            </a:pPr>
            <a:r>
              <a:rPr sz="1800" b="1">
                <a:solidFill>
                  <a:srgbClr val="F59E0B"/>
                </a:solidFill>
                <a:latin typeface="Calibri"/>
              </a:rPr>
              <a:t>●  </a:t>
            </a:r>
            <a:r>
              <a:rPr sz="1800">
                <a:solidFill>
                  <a:srgbClr val="1F2937"/>
                </a:solidFill>
                <a:latin typeface="Calibri"/>
              </a:rPr>
              <a:t>Uzabilitate: responsive, limba română.</a:t>
            </a:r>
          </a:p>
          <a:p>
            <a:pPr algn="l">
              <a:lnSpc>
                <a:spcPct val="120000"/>
              </a:lnSpc>
              <a:spcAft>
                <a:spcPts val="1000"/>
              </a:spcAft>
            </a:pPr>
            <a:r>
              <a:rPr sz="1800" b="1">
                <a:solidFill>
                  <a:srgbClr val="F59E0B"/>
                </a:solidFill>
                <a:latin typeface="Calibri"/>
              </a:rPr>
              <a:t>●  </a:t>
            </a:r>
            <a:r>
              <a:rPr sz="1800">
                <a:solidFill>
                  <a:srgbClr val="1F2937"/>
                </a:solidFill>
                <a:latin typeface="Calibri"/>
              </a:rPr>
              <a:t>Mentenabilitate: arhitectură modulară.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714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CBD5E1"/>
                </a:solidFill>
                <a:latin typeface="Calibri"/>
              </a:rPr>
              <a:t>Licență 2026  •  AutoVault Marketplace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0" y="653796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CBD5E1"/>
                </a:solidFill>
                <a:latin typeface="Calibri"/>
              </a:rPr>
              <a:t>NestJS  •  React Router 7  •  TypeORM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41848" y="2286000"/>
            <a:ext cx="914400" cy="109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2514600"/>
            <a:ext cx="1219169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600" b="1">
                <a:solidFill>
                  <a:srgbClr val="F59E0B"/>
                </a:solidFill>
                <a:latin typeface="Calibri"/>
              </a:rPr>
              <a:t>CAPITOLUL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200400"/>
            <a:ext cx="12191695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5600" b="1">
                <a:solidFill>
                  <a:srgbClr val="FFFFFF"/>
                </a:solidFill>
                <a:latin typeface="Calibri"/>
              </a:rPr>
              <a:t>Tehnologii utilizate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169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400" b="0">
                <a:solidFill>
                  <a:srgbClr val="CBD5E1"/>
                </a:solidFill>
                <a:latin typeface="Calibri"/>
              </a:rPr>
              <a:t>Stack-ul full-stack și măsurile de securitate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400800"/>
            <a:ext cx="1554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600" b="1">
                <a:solidFill>
                  <a:srgbClr val="CBD5E1"/>
                </a:solidFill>
                <a:latin typeface="Calibri"/>
              </a:rPr>
              <a:t>9 / 25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F2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7315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9601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Stack tehnologic complet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49808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CBD5E1"/>
                </a:solidFill>
                <a:latin typeface="Calibri"/>
              </a:rPr>
              <a:t>Tehnologii moderne pentru un marketplace web full-stack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411480"/>
            <a:ext cx="1554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600" b="1">
                <a:solidFill>
                  <a:srgbClr val="CBD5E1"/>
                </a:solidFill>
                <a:latin typeface="Calibri"/>
              </a:rPr>
              <a:t>10 / 25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624" y="1737360"/>
            <a:ext cx="2788920" cy="224028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1691640"/>
            <a:ext cx="2788920" cy="224028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84048" y="1691640"/>
            <a:ext cx="2788920" cy="502920"/>
          </a:xfrm>
          <a:prstGeom prst="rect">
            <a:avLst/>
          </a:prstGeom>
          <a:solidFill>
            <a:srgbClr val="0F2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048" y="1783080"/>
            <a:ext cx="2788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F59E0B"/>
                </a:solidFill>
                <a:latin typeface="Calibri"/>
              </a:rPr>
              <a:t>BACKEND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" y="2404872"/>
            <a:ext cx="2514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600" b="1">
                <a:solidFill>
                  <a:srgbClr val="0F234E"/>
                </a:solidFill>
                <a:latin typeface="Calibri"/>
              </a:rPr>
              <a:t>NestJS 11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" y="3154680"/>
            <a:ext cx="23317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0">
                <a:solidFill>
                  <a:srgbClr val="6B7280"/>
                </a:solidFill>
                <a:latin typeface="Calibri"/>
              </a:rPr>
              <a:t>Framework Node.js modular cu dependency injection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19272" y="1737360"/>
            <a:ext cx="2788920" cy="224028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282696" y="1691640"/>
            <a:ext cx="2788920" cy="224028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282696" y="1691640"/>
            <a:ext cx="2788920" cy="502920"/>
          </a:xfrm>
          <a:prstGeom prst="rect">
            <a:avLst/>
          </a:prstGeom>
          <a:solidFill>
            <a:srgbClr val="0F2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82696" y="1783080"/>
            <a:ext cx="2788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F59E0B"/>
                </a:solidFill>
                <a:latin typeface="Calibri"/>
              </a:rPr>
              <a:t>LIMBAJ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19856" y="2404872"/>
            <a:ext cx="2514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600" b="1">
                <a:solidFill>
                  <a:srgbClr val="0F234E"/>
                </a:solidFill>
                <a:latin typeface="Calibri"/>
              </a:rPr>
              <a:t>TypeScript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11296" y="3154680"/>
            <a:ext cx="23317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0">
                <a:solidFill>
                  <a:srgbClr val="6B7280"/>
                </a:solidFill>
                <a:latin typeface="Calibri"/>
              </a:rPr>
              <a:t>Tipare statice, decoratori și DTO-uri validate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17920" y="1737360"/>
            <a:ext cx="2788920" cy="224028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81344" y="1691640"/>
            <a:ext cx="2788920" cy="224028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81344" y="1691640"/>
            <a:ext cx="2788920" cy="502920"/>
          </a:xfrm>
          <a:prstGeom prst="rect">
            <a:avLst/>
          </a:prstGeom>
          <a:solidFill>
            <a:srgbClr val="0F2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81344" y="1783080"/>
            <a:ext cx="2788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F59E0B"/>
                </a:solidFill>
                <a:latin typeface="Calibri"/>
              </a:rPr>
              <a:t>BAZĂ DATE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18504" y="2404872"/>
            <a:ext cx="2514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600" b="1">
                <a:solidFill>
                  <a:srgbClr val="0F234E"/>
                </a:solidFill>
                <a:latin typeface="Calibri"/>
              </a:rPr>
              <a:t>SQLite + TypeORM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9944" y="3154680"/>
            <a:ext cx="23317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0">
                <a:solidFill>
                  <a:srgbClr val="6B7280"/>
                </a:solidFill>
                <a:latin typeface="Calibri"/>
              </a:rPr>
              <a:t>ORM cu sincronizare automată în development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116568" y="1737360"/>
            <a:ext cx="2788920" cy="224028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079992" y="1691640"/>
            <a:ext cx="2788920" cy="224028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079992" y="1691640"/>
            <a:ext cx="2788920" cy="502920"/>
          </a:xfrm>
          <a:prstGeom prst="rect">
            <a:avLst/>
          </a:prstGeom>
          <a:solidFill>
            <a:srgbClr val="0F2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79992" y="1783080"/>
            <a:ext cx="2788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F59E0B"/>
                </a:solidFill>
                <a:latin typeface="Calibri"/>
              </a:rPr>
              <a:t>AUTH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17152" y="2404872"/>
            <a:ext cx="2514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600" b="1">
                <a:solidFill>
                  <a:srgbClr val="0F234E"/>
                </a:solidFill>
                <a:latin typeface="Calibri"/>
              </a:rPr>
              <a:t>JWT + OAuth2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08592" y="3154680"/>
            <a:ext cx="23317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0">
                <a:solidFill>
                  <a:srgbClr val="6B7280"/>
                </a:solidFill>
                <a:latin typeface="Calibri"/>
              </a:rPr>
              <a:t>Access + refresh tokens, Google și Facebook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0624" y="4160520"/>
            <a:ext cx="2788920" cy="224028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84048" y="4114800"/>
            <a:ext cx="2788920" cy="224028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84048" y="4114800"/>
            <a:ext cx="2788920" cy="502920"/>
          </a:xfrm>
          <a:prstGeom prst="rect">
            <a:avLst/>
          </a:prstGeom>
          <a:solidFill>
            <a:srgbClr val="0F2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84048" y="4206240"/>
            <a:ext cx="2788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F59E0B"/>
                </a:solidFill>
                <a:latin typeface="Calibri"/>
              </a:rPr>
              <a:t>FRONTEND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21208" y="4828032"/>
            <a:ext cx="2514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600" b="1">
                <a:solidFill>
                  <a:srgbClr val="0F234E"/>
                </a:solidFill>
                <a:latin typeface="Calibri"/>
              </a:rPr>
              <a:t>React 19 + RR 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2648" y="5577840"/>
            <a:ext cx="23317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0">
                <a:solidFill>
                  <a:srgbClr val="6B7280"/>
                </a:solidFill>
                <a:latin typeface="Calibri"/>
              </a:rPr>
              <a:t>SSR cu React Router în framework mode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319272" y="4160520"/>
            <a:ext cx="2788920" cy="224028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282696" y="4114800"/>
            <a:ext cx="2788920" cy="224028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282696" y="4114800"/>
            <a:ext cx="2788920" cy="502920"/>
          </a:xfrm>
          <a:prstGeom prst="rect">
            <a:avLst/>
          </a:prstGeom>
          <a:solidFill>
            <a:srgbClr val="0F2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282696" y="4206240"/>
            <a:ext cx="2788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F59E0B"/>
                </a:solidFill>
                <a:latin typeface="Calibri"/>
              </a:rPr>
              <a:t>STATE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419856" y="4828032"/>
            <a:ext cx="2514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600" b="1">
                <a:solidFill>
                  <a:srgbClr val="0F234E"/>
                </a:solidFill>
                <a:latin typeface="Calibri"/>
              </a:rPr>
              <a:t>Zustand 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11296" y="5577840"/>
            <a:ext cx="23317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0">
                <a:solidFill>
                  <a:srgbClr val="6B7280"/>
                </a:solidFill>
                <a:latin typeface="Calibri"/>
              </a:rPr>
              <a:t>Store-uri persistente în localStorage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217920" y="4160520"/>
            <a:ext cx="2788920" cy="224028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181344" y="4114800"/>
            <a:ext cx="2788920" cy="224028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181344" y="4114800"/>
            <a:ext cx="2788920" cy="502920"/>
          </a:xfrm>
          <a:prstGeom prst="rect">
            <a:avLst/>
          </a:prstGeom>
          <a:solidFill>
            <a:srgbClr val="0F2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181344" y="4206240"/>
            <a:ext cx="2788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F59E0B"/>
                </a:solidFill>
                <a:latin typeface="Calibri"/>
              </a:rPr>
              <a:t>STYLING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18504" y="4828032"/>
            <a:ext cx="2514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600" b="1">
                <a:solidFill>
                  <a:srgbClr val="0F234E"/>
                </a:solidFill>
                <a:latin typeface="Calibri"/>
              </a:rPr>
              <a:t>Tailwind CSS 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09944" y="5577840"/>
            <a:ext cx="23317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0">
                <a:solidFill>
                  <a:srgbClr val="6B7280"/>
                </a:solidFill>
                <a:latin typeface="Calibri"/>
              </a:rPr>
              <a:t>Utility-first cu design tokens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116568" y="4160520"/>
            <a:ext cx="2788920" cy="224028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9079992" y="4114800"/>
            <a:ext cx="2788920" cy="224028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9079992" y="4114800"/>
            <a:ext cx="2788920" cy="502920"/>
          </a:xfrm>
          <a:prstGeom prst="rect">
            <a:avLst/>
          </a:prstGeom>
          <a:solidFill>
            <a:srgbClr val="0F2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079992" y="4206240"/>
            <a:ext cx="2788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F59E0B"/>
                </a:solidFill>
                <a:latin typeface="Calibri"/>
              </a:rPr>
              <a:t>MEDIA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217152" y="4828032"/>
            <a:ext cx="2514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600" b="1">
                <a:solidFill>
                  <a:srgbClr val="0F234E"/>
                </a:solidFill>
                <a:latin typeface="Calibri"/>
              </a:rPr>
              <a:t>Cloudinary + Multer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308592" y="5577840"/>
            <a:ext cx="23317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0">
                <a:solidFill>
                  <a:srgbClr val="6B7280"/>
                </a:solidFill>
                <a:latin typeface="Calibri"/>
              </a:rPr>
              <a:t>Upload optimizat de imagini</a:t>
            </a:r>
          </a:p>
        </p:txBody>
      </p:sp>
      <p:sp>
        <p:nvSpPr>
          <p:cNvPr id="55" name="Rectangle 54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714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CBD5E1"/>
                </a:solidFill>
                <a:latin typeface="Calibri"/>
              </a:rPr>
              <a:t>Licență 2026  •  AutoVault Marketplace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686800" y="653796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CBD5E1"/>
                </a:solidFill>
                <a:latin typeface="Calibri"/>
              </a:rPr>
              <a:t>NestJS  •  React Router 7  •  TypeORM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F2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7315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9601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Securitate și servicii externe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49808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CBD5E1"/>
                </a:solidFill>
                <a:latin typeface="Calibri"/>
              </a:rPr>
              <a:t>Cum am asigurat protecția datelor utilizatorilor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411480"/>
            <a:ext cx="1554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600" b="1">
                <a:solidFill>
                  <a:srgbClr val="CBD5E1"/>
                </a:solidFill>
                <a:latin typeface="Calibri"/>
              </a:rPr>
              <a:t>11 / 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783080"/>
            <a:ext cx="10515600" cy="45720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25000"/>
              </a:lnSpc>
              <a:spcAft>
                <a:spcPts val="1400"/>
              </a:spcAft>
            </a:pPr>
            <a:r>
              <a:rPr sz="2400" b="1">
                <a:solidFill>
                  <a:srgbClr val="F59E0B"/>
                </a:solidFill>
                <a:latin typeface="Calibri"/>
              </a:rPr>
              <a:t>●  </a:t>
            </a:r>
            <a:r>
              <a:rPr sz="2400">
                <a:solidFill>
                  <a:srgbClr val="1F2937"/>
                </a:solidFill>
                <a:latin typeface="Calibri"/>
              </a:rPr>
              <a:t>JWT cu 2 secrete: access (15 min) + refresh (7 zile).</a:t>
            </a:r>
          </a:p>
          <a:p>
            <a:pPr algn="l">
              <a:lnSpc>
                <a:spcPct val="125000"/>
              </a:lnSpc>
              <a:spcAft>
                <a:spcPts val="1400"/>
              </a:spcAft>
            </a:pPr>
            <a:r>
              <a:rPr sz="2400" b="1">
                <a:solidFill>
                  <a:srgbClr val="F59E0B"/>
                </a:solidFill>
                <a:latin typeface="Calibri"/>
              </a:rPr>
              <a:t>●  </a:t>
            </a:r>
            <a:r>
              <a:rPr sz="2400">
                <a:solidFill>
                  <a:srgbClr val="1F2937"/>
                </a:solidFill>
                <a:latin typeface="Calibri"/>
              </a:rPr>
              <a:t>TokenBlacklist pentru invalidare sesiuni la logout.</a:t>
            </a:r>
          </a:p>
          <a:p>
            <a:pPr algn="l">
              <a:lnSpc>
                <a:spcPct val="125000"/>
              </a:lnSpc>
              <a:spcAft>
                <a:spcPts val="1400"/>
              </a:spcAft>
            </a:pPr>
            <a:r>
              <a:rPr sz="2400" b="1">
                <a:solidFill>
                  <a:srgbClr val="F59E0B"/>
                </a:solidFill>
                <a:latin typeface="Calibri"/>
              </a:rPr>
              <a:t>●  </a:t>
            </a:r>
            <a:r>
              <a:rPr sz="2400">
                <a:solidFill>
                  <a:srgbClr val="1F2937"/>
                </a:solidFill>
                <a:latin typeface="Calibri"/>
              </a:rPr>
              <a:t>Parole hash-uite cu scrypt și sare aleatorie.</a:t>
            </a:r>
          </a:p>
          <a:p>
            <a:pPr algn="l">
              <a:lnSpc>
                <a:spcPct val="125000"/>
              </a:lnSpc>
              <a:spcAft>
                <a:spcPts val="1400"/>
              </a:spcAft>
            </a:pPr>
            <a:r>
              <a:rPr sz="2400" b="1">
                <a:solidFill>
                  <a:srgbClr val="F59E0B"/>
                </a:solidFill>
                <a:latin typeface="Calibri"/>
              </a:rPr>
              <a:t>●  </a:t>
            </a:r>
            <a:r>
              <a:rPr sz="2400">
                <a:solidFill>
                  <a:srgbClr val="1F2937"/>
                </a:solidFill>
                <a:latin typeface="Calibri"/>
              </a:rPr>
              <a:t>Throttling: max 5 încercări de login pe minut.</a:t>
            </a:r>
          </a:p>
          <a:p>
            <a:pPr algn="l">
              <a:lnSpc>
                <a:spcPct val="125000"/>
              </a:lnSpc>
              <a:spcAft>
                <a:spcPts val="1400"/>
              </a:spcAft>
            </a:pPr>
            <a:r>
              <a:rPr sz="2400" b="1">
                <a:solidFill>
                  <a:srgbClr val="F59E0B"/>
                </a:solidFill>
                <a:latin typeface="Calibri"/>
              </a:rPr>
              <a:t>●  </a:t>
            </a:r>
            <a:r>
              <a:rPr sz="2400">
                <a:solidFill>
                  <a:srgbClr val="1F2937"/>
                </a:solidFill>
                <a:latin typeface="Calibri"/>
              </a:rPr>
              <a:t>OAuth2 prin Passport.js (Google și Facebook).</a:t>
            </a:r>
          </a:p>
          <a:p>
            <a:pPr algn="l">
              <a:lnSpc>
                <a:spcPct val="125000"/>
              </a:lnSpc>
              <a:spcAft>
                <a:spcPts val="1400"/>
              </a:spcAft>
            </a:pPr>
            <a:r>
              <a:rPr sz="2400" b="1">
                <a:solidFill>
                  <a:srgbClr val="F59E0B"/>
                </a:solidFill>
                <a:latin typeface="Calibri"/>
              </a:rPr>
              <a:t>●  </a:t>
            </a:r>
            <a:r>
              <a:rPr sz="2400">
                <a:solidFill>
                  <a:srgbClr val="1F2937"/>
                </a:solidFill>
                <a:latin typeface="Calibri"/>
              </a:rPr>
              <a:t>Cloudinary pentru imagini, Mailtrap SMTP pentru email.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714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CBD5E1"/>
                </a:solidFill>
                <a:latin typeface="Calibri"/>
              </a:rPr>
              <a:t>Licență 2026  •  AutoVault Marketplace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53796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CBD5E1"/>
                </a:solidFill>
                <a:latin typeface="Calibri"/>
              </a:rPr>
              <a:t>NestJS  •  React Router 7  •  TypeORM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41848" y="2286000"/>
            <a:ext cx="914400" cy="109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2514600"/>
            <a:ext cx="1219169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600" b="1">
                <a:solidFill>
                  <a:srgbClr val="F59E0B"/>
                </a:solidFill>
                <a:latin typeface="Calibri"/>
              </a:rPr>
              <a:t>CAPITOLUL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200400"/>
            <a:ext cx="12191695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5600" b="1">
                <a:solidFill>
                  <a:srgbClr val="FFFFFF"/>
                </a:solidFill>
                <a:latin typeface="Calibri"/>
              </a:rPr>
              <a:t>Proiectare și arhitectură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169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400" b="0">
                <a:solidFill>
                  <a:srgbClr val="CBD5E1"/>
                </a:solidFill>
                <a:latin typeface="Calibri"/>
              </a:rPr>
              <a:t>Straturi, module și modelul de date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400800"/>
            <a:ext cx="1554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600" b="1">
                <a:solidFill>
                  <a:srgbClr val="CBD5E1"/>
                </a:solidFill>
                <a:latin typeface="Calibri"/>
              </a:rPr>
              <a:t>12 / 25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F2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7315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9601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Arhitectura generală a aplicației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49808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CBD5E1"/>
                </a:solidFill>
                <a:latin typeface="Calibri"/>
              </a:rPr>
              <a:t>Flux de date: client → API → ORM → bază de date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411480"/>
            <a:ext cx="1554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600" b="1">
                <a:solidFill>
                  <a:srgbClr val="CBD5E1"/>
                </a:solidFill>
                <a:latin typeface="Calibri"/>
              </a:rPr>
              <a:t>13 / 25</a:t>
            </a:r>
          </a:p>
        </p:txBody>
      </p:sp>
      <p:sp>
        <p:nvSpPr>
          <p:cNvPr id="7" name="Rectangle 6"/>
          <p:cNvSpPr/>
          <p:nvPr/>
        </p:nvSpPr>
        <p:spPr>
          <a:xfrm>
            <a:off x="676656" y="1728216"/>
            <a:ext cx="10881360" cy="1078992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691640"/>
            <a:ext cx="10881360" cy="1078992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691640"/>
            <a:ext cx="1920240" cy="1078992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691640"/>
            <a:ext cx="1920240" cy="10789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CLIENT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1856232"/>
            <a:ext cx="8732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0F234E"/>
                </a:solidFill>
                <a:latin typeface="Calibri"/>
              </a:rPr>
              <a:t>Browser (React 19, Vite, Tailwind CSS 4)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0" y="2331720"/>
            <a:ext cx="87325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6B7280"/>
                </a:solidFill>
                <a:latin typeface="Calibri"/>
              </a:rPr>
              <a:t>Pagini SSR/SPA, Zustand stores cu persistență în localStorage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76656" y="2898648"/>
            <a:ext cx="10881360" cy="1078992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862072"/>
            <a:ext cx="10881360" cy="1078992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862072"/>
            <a:ext cx="1920240" cy="107899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2862072"/>
            <a:ext cx="1920240" cy="10789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TRANSPORT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0" y="3026664"/>
            <a:ext cx="8732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0F234E"/>
                </a:solidFill>
                <a:latin typeface="Calibri"/>
              </a:rPr>
              <a:t>Axios + interceptori HTTP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43200" y="3502152"/>
            <a:ext cx="87325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6B7280"/>
                </a:solidFill>
                <a:latin typeface="Calibri"/>
              </a:rPr>
              <a:t>Bearer token automat, auto-refresh la 401, request queue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76656" y="4069080"/>
            <a:ext cx="10881360" cy="1078992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4032504"/>
            <a:ext cx="10881360" cy="1078992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0080" y="4032504"/>
            <a:ext cx="1920240" cy="1078992"/>
          </a:xfrm>
          <a:prstGeom prst="rect">
            <a:avLst/>
          </a:prstGeom>
          <a:solidFill>
            <a:srgbClr val="0F2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4032504"/>
            <a:ext cx="1920240" cy="10789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API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43200" y="4197096"/>
            <a:ext cx="8732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0F234E"/>
                </a:solidFill>
                <a:latin typeface="Calibri"/>
              </a:rPr>
              <a:t>NestJS Controllers + Guards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43200" y="4672584"/>
            <a:ext cx="87325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6B7280"/>
                </a:solidFill>
                <a:latin typeface="Calibri"/>
              </a:rPr>
              <a:t>ValidationPipe global, JWT Auth, Throttling, CORS configurat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76656" y="5239512"/>
            <a:ext cx="10881360" cy="1078992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40080" y="5202936"/>
            <a:ext cx="10881360" cy="1078992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40080" y="5202936"/>
            <a:ext cx="1920240" cy="107899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5202936"/>
            <a:ext cx="1920240" cy="10789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DATA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43200" y="5367528"/>
            <a:ext cx="8732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0F234E"/>
                </a:solidFill>
                <a:latin typeface="Calibri"/>
              </a:rPr>
              <a:t>TypeORM → SQLite în mod WAL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5843016"/>
            <a:ext cx="87325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6B7280"/>
                </a:solidFill>
                <a:latin typeface="Calibri"/>
              </a:rPr>
              <a:t>Entități, relații tipate, sincronizare automată în development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714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CBD5E1"/>
                </a:solidFill>
                <a:latin typeface="Calibri"/>
              </a:rPr>
              <a:t>Licență 2026  •  AutoVault Marketplace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86800" y="653796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CBD5E1"/>
                </a:solidFill>
                <a:latin typeface="Calibri"/>
              </a:rPr>
              <a:t>NestJS  •  React Router 7  •  TypeORM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F2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7315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9601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Modelul de date — entități și relații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49808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CBD5E1"/>
                </a:solidFill>
                <a:latin typeface="Calibri"/>
              </a:rPr>
              <a:t>Diagrama ER cu cele 9 entități principale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411480"/>
            <a:ext cx="1554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600" b="1">
                <a:solidFill>
                  <a:srgbClr val="CBD5E1"/>
                </a:solidFill>
                <a:latin typeface="Calibri"/>
              </a:rPr>
              <a:t>14 / 25</a:t>
            </a:r>
          </a:p>
        </p:txBody>
      </p:sp>
      <p:sp>
        <p:nvSpPr>
          <p:cNvPr id="7" name="Rectangle 6"/>
          <p:cNvSpPr/>
          <p:nvPr/>
        </p:nvSpPr>
        <p:spPr>
          <a:xfrm>
            <a:off x="448056" y="1737360"/>
            <a:ext cx="3611880" cy="150876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480" y="1691640"/>
            <a:ext cx="3611880" cy="1508760"/>
          </a:xfrm>
          <a:prstGeom prst="rect">
            <a:avLst/>
          </a:prstGeom>
          <a:solidFill>
            <a:srgbClr val="FFFFFF"/>
          </a:solidFill>
          <a:ln w="9525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11480" y="1691640"/>
            <a:ext cx="3611880" cy="502920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764792"/>
            <a:ext cx="33375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Buyer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331720"/>
            <a:ext cx="3337560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1F2937"/>
                </a:solidFill>
                <a:latin typeface="Calibri"/>
              </a:rPr>
              <a:t>walletBalance, currency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2633472"/>
            <a:ext cx="3337560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1F2937"/>
                </a:solidFill>
                <a:latin typeface="Calibri"/>
              </a:rPr>
              <a:t>totalSpent, receiveCarAlerts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42816" y="1737360"/>
            <a:ext cx="3611880" cy="150876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06240" y="1691640"/>
            <a:ext cx="3611880" cy="1508760"/>
          </a:xfrm>
          <a:prstGeom prst="rect">
            <a:avLst/>
          </a:prstGeom>
          <a:solidFill>
            <a:srgbClr val="FFFFFF"/>
          </a:solidFill>
          <a:ln w="9525">
            <a:solidFill>
              <a:srgbClr val="0F2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06240" y="1691640"/>
            <a:ext cx="3611880" cy="502920"/>
          </a:xfrm>
          <a:prstGeom prst="rect">
            <a:avLst/>
          </a:prstGeom>
          <a:solidFill>
            <a:srgbClr val="0F2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89120" y="1764792"/>
            <a:ext cx="33375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User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89120" y="2331720"/>
            <a:ext cx="3337560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1F2937"/>
                </a:solidFill>
                <a:latin typeface="Calibri"/>
              </a:rPr>
              <a:t>id, email, password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20" y="2633472"/>
            <a:ext cx="3337560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1F2937"/>
                </a:solidFill>
                <a:latin typeface="Calibri"/>
              </a:rPr>
              <a:t>role, firstName, lastName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20" y="2935224"/>
            <a:ext cx="3337560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1F2937"/>
                </a:solidFill>
                <a:latin typeface="Calibri"/>
              </a:rPr>
              <a:t>isEmailVerified, createdAt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37576" y="1737360"/>
            <a:ext cx="3611880" cy="150876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01000" y="1691640"/>
            <a:ext cx="3611880" cy="1508760"/>
          </a:xfrm>
          <a:prstGeom prst="rect">
            <a:avLst/>
          </a:prstGeom>
          <a:solidFill>
            <a:srgbClr val="FFFFFF"/>
          </a:solidFill>
          <a:ln w="952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001000" y="1691640"/>
            <a:ext cx="3611880" cy="5029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83880" y="1764792"/>
            <a:ext cx="33375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Vehicle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83880" y="2331720"/>
            <a:ext cx="3337560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1F2937"/>
                </a:solidFill>
                <a:latin typeface="Calibri"/>
              </a:rPr>
              <a:t>make, model, year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83880" y="2633472"/>
            <a:ext cx="3337560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1F2937"/>
                </a:solidFill>
                <a:latin typeface="Calibri"/>
              </a:rPr>
              <a:t>price, mileage, fuelType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83880" y="2935224"/>
            <a:ext cx="3337560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1F2937"/>
                </a:solidFill>
                <a:latin typeface="Calibri"/>
              </a:rPr>
              <a:t>images, viewsCount, status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48056" y="3364992"/>
            <a:ext cx="3611880" cy="150876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11480" y="3319272"/>
            <a:ext cx="3611880" cy="1508760"/>
          </a:xfrm>
          <a:prstGeom prst="rect">
            <a:avLst/>
          </a:prstGeom>
          <a:solidFill>
            <a:srgbClr val="FFFFFF"/>
          </a:solidFill>
          <a:ln w="9525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11480" y="3319272"/>
            <a:ext cx="3611880" cy="502920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94360" y="3392424"/>
            <a:ext cx="33375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Seller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" y="3959352"/>
            <a:ext cx="3337560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1F2937"/>
                </a:solidFill>
                <a:latin typeface="Calibri"/>
              </a:rPr>
              <a:t>walletBalance, IBAN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" y="4261104"/>
            <a:ext cx="3337560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1F2937"/>
                </a:solidFill>
                <a:latin typeface="Calibri"/>
              </a:rPr>
              <a:t>commissionRate, sellerRating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242816" y="3364992"/>
            <a:ext cx="3611880" cy="150876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206240" y="3319272"/>
            <a:ext cx="3611880" cy="1508760"/>
          </a:xfrm>
          <a:prstGeom prst="rect">
            <a:avLst/>
          </a:prstGeom>
          <a:solidFill>
            <a:srgbClr val="FFFFFF"/>
          </a:solidFill>
          <a:ln w="952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206240" y="3319272"/>
            <a:ext cx="3611880" cy="5029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389120" y="3392424"/>
            <a:ext cx="33375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Conversation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389120" y="3959352"/>
            <a:ext cx="3337560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1F2937"/>
                </a:solidFill>
                <a:latin typeface="Calibri"/>
              </a:rPr>
              <a:t>buyerId, sellerId, vehicleId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89120" y="4261104"/>
            <a:ext cx="3337560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1F2937"/>
                </a:solidFill>
                <a:latin typeface="Calibri"/>
              </a:rPr>
              <a:t>unreadByBuyer, unreadBySeller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389120" y="4562856"/>
            <a:ext cx="3337560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1F2937"/>
                </a:solidFill>
                <a:latin typeface="Calibri"/>
              </a:rPr>
              <a:t>lastMessage, lastMessageAt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037576" y="3364992"/>
            <a:ext cx="3611880" cy="150876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001000" y="3319272"/>
            <a:ext cx="3611880" cy="1508760"/>
          </a:xfrm>
          <a:prstGeom prst="rect">
            <a:avLst/>
          </a:prstGeom>
          <a:solidFill>
            <a:srgbClr val="FFFFFF"/>
          </a:solidFill>
          <a:ln w="952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8001000" y="3319272"/>
            <a:ext cx="3611880" cy="5029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183880" y="3392424"/>
            <a:ext cx="33375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Bid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83880" y="3959352"/>
            <a:ext cx="3337560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1F2937"/>
                </a:solidFill>
                <a:latin typeface="Calibri"/>
              </a:rPr>
              <a:t>amount, status, message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83880" y="4261104"/>
            <a:ext cx="3337560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1F2937"/>
                </a:solidFill>
                <a:latin typeface="Calibri"/>
              </a:rPr>
              <a:t>expiresAt, rejectionReason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83880" y="4562856"/>
            <a:ext cx="3337560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1F2937"/>
                </a:solidFill>
                <a:latin typeface="Calibri"/>
              </a:rPr>
              <a:t>buyerId, vehicleId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48056" y="4992624"/>
            <a:ext cx="3611880" cy="150876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11480" y="4946904"/>
            <a:ext cx="3611880" cy="1508760"/>
          </a:xfrm>
          <a:prstGeom prst="rect">
            <a:avLst/>
          </a:prstGeom>
          <a:solidFill>
            <a:srgbClr val="FFFFFF"/>
          </a:solidFill>
          <a:ln w="9525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411480" y="4946904"/>
            <a:ext cx="3611880" cy="502920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94360" y="5020056"/>
            <a:ext cx="33375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SavedVehicle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4360" y="5586984"/>
            <a:ext cx="3337560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1F2937"/>
                </a:solidFill>
                <a:latin typeface="Calibri"/>
              </a:rPr>
              <a:t>userId, vehicleId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94360" y="5888736"/>
            <a:ext cx="3337560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1F2937"/>
                </a:solidFill>
                <a:latin typeface="Calibri"/>
              </a:rPr>
              <a:t>unique (userId, vehicleId)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242816" y="4992624"/>
            <a:ext cx="3611880" cy="150876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4206240" y="4946904"/>
            <a:ext cx="3611880" cy="1508760"/>
          </a:xfrm>
          <a:prstGeom prst="rect">
            <a:avLst/>
          </a:prstGeom>
          <a:solidFill>
            <a:srgbClr val="FFFFFF"/>
          </a:solidFill>
          <a:ln w="952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206240" y="4946904"/>
            <a:ext cx="3611880" cy="5029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389120" y="5020056"/>
            <a:ext cx="33375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Message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389120" y="5586984"/>
            <a:ext cx="3337560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1F2937"/>
                </a:solidFill>
                <a:latin typeface="Calibri"/>
              </a:rPr>
              <a:t>content, status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389120" y="5888736"/>
            <a:ext cx="3337560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1F2937"/>
                </a:solidFill>
                <a:latin typeface="Calibri"/>
              </a:rPr>
              <a:t>senderId, conversationId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389120" y="6190488"/>
            <a:ext cx="3337560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1F2937"/>
                </a:solidFill>
                <a:latin typeface="Calibri"/>
              </a:rPr>
              <a:t>createdAt</a:t>
            </a:r>
          </a:p>
        </p:txBody>
      </p:sp>
      <p:sp>
        <p:nvSpPr>
          <p:cNvPr id="60" name="Rectangle 59"/>
          <p:cNvSpPr/>
          <p:nvPr/>
        </p:nvSpPr>
        <p:spPr>
          <a:xfrm>
            <a:off x="8037576" y="4992624"/>
            <a:ext cx="3611880" cy="150876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8001000" y="4946904"/>
            <a:ext cx="3611880" cy="1508760"/>
          </a:xfrm>
          <a:prstGeom prst="rect">
            <a:avLst/>
          </a:prstGeom>
          <a:solidFill>
            <a:srgbClr val="FFFFFF"/>
          </a:solidFill>
          <a:ln w="952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8001000" y="4946904"/>
            <a:ext cx="3611880" cy="5029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183880" y="5020056"/>
            <a:ext cx="33375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Transaction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183880" y="5586984"/>
            <a:ext cx="3337560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1F2937"/>
                </a:solidFill>
                <a:latin typeface="Calibri"/>
              </a:rPr>
              <a:t>amount, type, status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183880" y="5888736"/>
            <a:ext cx="3337560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1F2937"/>
                </a:solidFill>
                <a:latin typeface="Calibri"/>
              </a:rPr>
              <a:t>userId, referenceId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183880" y="6190488"/>
            <a:ext cx="3337560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1F2937"/>
                </a:solidFill>
                <a:latin typeface="Calibri"/>
              </a:rPr>
              <a:t>description, createdAt</a:t>
            </a:r>
          </a:p>
        </p:txBody>
      </p:sp>
      <p:sp>
        <p:nvSpPr>
          <p:cNvPr id="67" name="Rectangle 66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714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CBD5E1"/>
                </a:solidFill>
                <a:latin typeface="Calibri"/>
              </a:rPr>
              <a:t>Licență 2026  •  AutoVault Marketplace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686800" y="653796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CBD5E1"/>
                </a:solidFill>
                <a:latin typeface="Calibri"/>
              </a:rPr>
              <a:t>NestJS  •  React Router 7  •  TypeORM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41848" y="2286000"/>
            <a:ext cx="914400" cy="109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2514600"/>
            <a:ext cx="1219169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600" b="1">
                <a:solidFill>
                  <a:srgbClr val="F59E0B"/>
                </a:solidFill>
                <a:latin typeface="Calibri"/>
              </a:rPr>
              <a:t>CAPITOLUL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200400"/>
            <a:ext cx="12191695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5600" b="1">
                <a:solidFill>
                  <a:srgbClr val="FFFFFF"/>
                </a:solidFill>
                <a:latin typeface="Calibri"/>
              </a:rPr>
              <a:t>Implementarea aplicației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169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400" b="0">
                <a:solidFill>
                  <a:srgbClr val="CBD5E1"/>
                </a:solidFill>
                <a:latin typeface="Calibri"/>
              </a:rPr>
              <a:t>Capturi din aplicație și fluxuri reale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400800"/>
            <a:ext cx="1554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600" b="1">
                <a:solidFill>
                  <a:srgbClr val="CBD5E1"/>
                </a:solidFill>
                <a:latin typeface="Calibri"/>
              </a:rPr>
              <a:t>15 / 25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F2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7315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9601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Autentificare și înregistrare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49808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CBD5E1"/>
                </a:solidFill>
                <a:latin typeface="Calibri"/>
              </a:rPr>
              <a:t>Login local + OAuth Google/Facebook, cu throttling contra brute-force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411480"/>
            <a:ext cx="1554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600" b="1">
                <a:solidFill>
                  <a:srgbClr val="CBD5E1"/>
                </a:solidFill>
                <a:latin typeface="Calibri"/>
              </a:rPr>
              <a:t>16 / 25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1783080"/>
            <a:ext cx="10360152" cy="4297680"/>
          </a:xfrm>
          <a:prstGeom prst="rect">
            <a:avLst/>
          </a:prstGeom>
          <a:solidFill>
            <a:srgbClr val="F3F4F6"/>
          </a:solidFill>
          <a:ln w="9525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01-lo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6332" y="1783080"/>
            <a:ext cx="6876288" cy="42976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14400" y="6126480"/>
            <a:ext cx="103601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6B7280"/>
                </a:solidFill>
                <a:latin typeface="Calibri"/>
              </a:rPr>
              <a:t>/auth/login — formular cu validare și redirect după rol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714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CBD5E1"/>
                </a:solidFill>
                <a:latin typeface="Calibri"/>
              </a:rPr>
              <a:t>Licență 2026  •  AutoVault Marketplace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0" y="653796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CBD5E1"/>
                </a:solidFill>
                <a:latin typeface="Calibri"/>
              </a:rPr>
              <a:t>NestJS  •  React Router 7  •  TypeORM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F2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7315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9601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Listarea și filtrarea anunțurilor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49808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CBD5E1"/>
                </a:solidFill>
                <a:latin typeface="Calibri"/>
              </a:rPr>
              <a:t>Filtrare după marcă, model, preț, an, combustibil, transmisie și localitate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411480"/>
            <a:ext cx="1554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600" b="1">
                <a:solidFill>
                  <a:srgbClr val="CBD5E1"/>
                </a:solidFill>
                <a:latin typeface="Calibri"/>
              </a:rPr>
              <a:t>17 / 25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1783080"/>
            <a:ext cx="10360152" cy="4297680"/>
          </a:xfrm>
          <a:prstGeom prst="rect">
            <a:avLst/>
          </a:prstGeom>
          <a:solidFill>
            <a:srgbClr val="F3F4F6"/>
          </a:solidFill>
          <a:ln w="9525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11-find-vehi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6332" y="1783080"/>
            <a:ext cx="6876288" cy="42976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14400" y="6126480"/>
            <a:ext cx="103601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6B7280"/>
                </a:solidFill>
                <a:latin typeface="Calibri"/>
              </a:rPr>
              <a:t>/find-vehicle — 200 de vehicule din 10 producători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714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CBD5E1"/>
                </a:solidFill>
                <a:latin typeface="Calibri"/>
              </a:rPr>
              <a:t>Licență 2026  •  AutoVault Marketplace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0" y="653796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CBD5E1"/>
                </a:solidFill>
                <a:latin typeface="Calibri"/>
              </a:rPr>
              <a:t>NestJS  •  React Router 7  •  TypeORM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F2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7315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9601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Pagina de detaliu vehicul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49808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CBD5E1"/>
                </a:solidFill>
                <a:latin typeface="Calibri"/>
              </a:rPr>
              <a:t>Peste 40 de câmpuri tehnice, galerie imagini și contact direct cu vânzătorul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411480"/>
            <a:ext cx="1554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600" b="1">
                <a:solidFill>
                  <a:srgbClr val="CBD5E1"/>
                </a:solidFill>
                <a:latin typeface="Calibri"/>
              </a:rPr>
              <a:t>18 / 25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1783080"/>
            <a:ext cx="10360152" cy="4297680"/>
          </a:xfrm>
          <a:prstGeom prst="rect">
            <a:avLst/>
          </a:prstGeom>
          <a:solidFill>
            <a:srgbClr val="F3F4F6"/>
          </a:solidFill>
          <a:ln w="9525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12-vehicle-de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6332" y="1783080"/>
            <a:ext cx="6876288" cy="42976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14400" y="6126480"/>
            <a:ext cx="103601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6B7280"/>
                </a:solidFill>
                <a:latin typeface="Calibri"/>
              </a:rPr>
              <a:t>/find-vehicle/:id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714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CBD5E1"/>
                </a:solidFill>
                <a:latin typeface="Calibri"/>
              </a:rPr>
              <a:t>Licență 2026  •  AutoVault Marketplace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0" y="653796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CBD5E1"/>
                </a:solidFill>
                <a:latin typeface="Calibri"/>
              </a:rPr>
              <a:t>NestJS  •  React Router 7  •  TypeORM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F2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7315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9601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Sistemul de bid-uri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411480"/>
            <a:ext cx="1554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600" b="1">
                <a:solidFill>
                  <a:srgbClr val="CBD5E1"/>
                </a:solidFill>
                <a:latin typeface="Calibri"/>
              </a:rPr>
              <a:t>19 / 25</a:t>
            </a:r>
          </a:p>
        </p:txBody>
      </p:sp>
      <p:sp>
        <p:nvSpPr>
          <p:cNvPr id="6" name="Rectangle 5"/>
          <p:cNvSpPr/>
          <p:nvPr/>
        </p:nvSpPr>
        <p:spPr>
          <a:xfrm>
            <a:off x="6263640" y="1783080"/>
            <a:ext cx="5486400" cy="3931920"/>
          </a:xfrm>
          <a:prstGeom prst="rect">
            <a:avLst/>
          </a:prstGeom>
          <a:solidFill>
            <a:srgbClr val="F3F4F6"/>
          </a:solidFill>
          <a:ln w="9525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15-bi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2034540"/>
            <a:ext cx="5486400" cy="3429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263640" y="57607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6B7280"/>
                </a:solidFill>
                <a:latin typeface="Calibri"/>
              </a:rPr>
              <a:t>/bids — bid-uri active și istoric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828800"/>
            <a:ext cx="5349240" cy="41148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900" b="1">
                <a:solidFill>
                  <a:srgbClr val="F59E0B"/>
                </a:solidFill>
                <a:latin typeface="Calibri"/>
              </a:rPr>
              <a:t>●  </a:t>
            </a:r>
            <a:r>
              <a:rPr sz="1900">
                <a:solidFill>
                  <a:srgbClr val="1F2937"/>
                </a:solidFill>
                <a:latin typeface="Calibri"/>
              </a:rPr>
              <a:t>Ofertă cu sumă și mesaj de negociere.</a:t>
            </a:r>
          </a:p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900" b="1">
                <a:solidFill>
                  <a:srgbClr val="F59E0B"/>
                </a:solidFill>
                <a:latin typeface="Calibri"/>
              </a:rPr>
              <a:t>●  </a:t>
            </a:r>
            <a:r>
              <a:rPr sz="1900">
                <a:solidFill>
                  <a:srgbClr val="1F2937"/>
                </a:solidFill>
                <a:latin typeface="Calibri"/>
              </a:rPr>
              <a:t>Stări: pending, accepted, rejected, withdrawn.</a:t>
            </a:r>
          </a:p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900" b="1">
                <a:solidFill>
                  <a:srgbClr val="F59E0B"/>
                </a:solidFill>
                <a:latin typeface="Calibri"/>
              </a:rPr>
              <a:t>●  </a:t>
            </a:r>
            <a:r>
              <a:rPr sz="1900">
                <a:solidFill>
                  <a:srgbClr val="1F2937"/>
                </a:solidFill>
                <a:latin typeface="Calibri"/>
              </a:rPr>
              <a:t>La acceptare → vehiculul devine SOLD.</a:t>
            </a:r>
          </a:p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900" b="1">
                <a:solidFill>
                  <a:srgbClr val="F59E0B"/>
                </a:solidFill>
                <a:latin typeface="Calibri"/>
              </a:rPr>
              <a:t>●  </a:t>
            </a:r>
            <a:r>
              <a:rPr sz="1900">
                <a:solidFill>
                  <a:srgbClr val="1F2937"/>
                </a:solidFill>
                <a:latin typeface="Calibri"/>
              </a:rPr>
              <a:t>Suma cumpărătorului este blocată (frozen).</a:t>
            </a:r>
          </a:p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900" b="1">
                <a:solidFill>
                  <a:srgbClr val="F59E0B"/>
                </a:solidFill>
                <a:latin typeface="Calibri"/>
              </a:rPr>
              <a:t>●  </a:t>
            </a:r>
            <a:r>
              <a:rPr sz="1900">
                <a:solidFill>
                  <a:srgbClr val="1F2937"/>
                </a:solidFill>
                <a:latin typeface="Calibri"/>
              </a:rPr>
              <a:t>Doar rolul BUYER poate plasa bid-uri.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714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CBD5E1"/>
                </a:solidFill>
                <a:latin typeface="Calibri"/>
              </a:rPr>
              <a:t>Licență 2026  •  AutoVault Marketplace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0" y="653796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CBD5E1"/>
                </a:solidFill>
                <a:latin typeface="Calibri"/>
              </a:rPr>
              <a:t>NestJS  •  React Router 7  •  TypeORM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F2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7315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9601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Mesagerie buyer ↔ seller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411480"/>
            <a:ext cx="1554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600" b="1">
                <a:solidFill>
                  <a:srgbClr val="CBD5E1"/>
                </a:solidFill>
                <a:latin typeface="Calibri"/>
              </a:rPr>
              <a:t>20 / 25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783080"/>
            <a:ext cx="5486400" cy="3931920"/>
          </a:xfrm>
          <a:prstGeom prst="rect">
            <a:avLst/>
          </a:prstGeom>
          <a:solidFill>
            <a:srgbClr val="F3F4F6"/>
          </a:solidFill>
          <a:ln w="9525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16b-messages-thre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034540"/>
            <a:ext cx="5486400" cy="3429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57607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6B7280"/>
                </a:solidFill>
                <a:latin typeface="Calibri"/>
              </a:rPr>
              <a:t>/messages — thread complet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828800"/>
            <a:ext cx="5349240" cy="41148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900" b="1">
                <a:solidFill>
                  <a:srgbClr val="F59E0B"/>
                </a:solidFill>
                <a:latin typeface="Calibri"/>
              </a:rPr>
              <a:t>●  </a:t>
            </a:r>
            <a:r>
              <a:rPr sz="1900">
                <a:solidFill>
                  <a:srgbClr val="1F2937"/>
                </a:solidFill>
                <a:latin typeface="Calibri"/>
              </a:rPr>
              <a:t>Conversații peer-to-peer buyer-seller.</a:t>
            </a:r>
          </a:p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900" b="1">
                <a:solidFill>
                  <a:srgbClr val="F59E0B"/>
                </a:solidFill>
                <a:latin typeface="Calibri"/>
              </a:rPr>
              <a:t>●  </a:t>
            </a:r>
            <a:r>
              <a:rPr sz="1900">
                <a:solidFill>
                  <a:srgbClr val="1F2937"/>
                </a:solidFill>
                <a:latin typeface="Calibri"/>
              </a:rPr>
              <a:t>Editare și ștergere de mesaje individuale.</a:t>
            </a:r>
          </a:p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900" b="1">
                <a:solidFill>
                  <a:srgbClr val="F59E0B"/>
                </a:solidFill>
                <a:latin typeface="Calibri"/>
              </a:rPr>
              <a:t>●  </a:t>
            </a:r>
            <a:r>
              <a:rPr sz="1900">
                <a:solidFill>
                  <a:srgbClr val="1F2937"/>
                </a:solidFill>
                <a:latin typeface="Calibri"/>
              </a:rPr>
              <a:t>Ștergere completă a conversației.</a:t>
            </a:r>
          </a:p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900" b="1">
                <a:solidFill>
                  <a:srgbClr val="F59E0B"/>
                </a:solidFill>
                <a:latin typeface="Calibri"/>
              </a:rPr>
              <a:t>●  </a:t>
            </a:r>
            <a:r>
              <a:rPr sz="1900">
                <a:solidFill>
                  <a:srgbClr val="1F2937"/>
                </a:solidFill>
                <a:latin typeface="Calibri"/>
              </a:rPr>
              <a:t>Unread tracking separat per participant.</a:t>
            </a:r>
          </a:p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900" b="1">
                <a:solidFill>
                  <a:srgbClr val="F59E0B"/>
                </a:solidFill>
                <a:latin typeface="Calibri"/>
              </a:rPr>
              <a:t>●  </a:t>
            </a:r>
            <a:r>
              <a:rPr sz="1900">
                <a:solidFill>
                  <a:srgbClr val="1F2937"/>
                </a:solidFill>
                <a:latin typeface="Calibri"/>
              </a:rPr>
              <a:t>Inițiere din pagina de detaliu vehicul.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714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CBD5E1"/>
                </a:solidFill>
                <a:latin typeface="Calibri"/>
              </a:rPr>
              <a:t>Licență 2026  •  AutoVault Marketplace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0" y="653796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CBD5E1"/>
                </a:solidFill>
                <a:latin typeface="Calibri"/>
              </a:rPr>
              <a:t>NestJS  •  React Router 7  •  TypeORM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F2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7315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9601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Portofel digital și tranzacții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411480"/>
            <a:ext cx="1554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600" b="1">
                <a:solidFill>
                  <a:srgbClr val="CBD5E1"/>
                </a:solidFill>
                <a:latin typeface="Calibri"/>
              </a:rPr>
              <a:t>21 / 25</a:t>
            </a:r>
          </a:p>
        </p:txBody>
      </p:sp>
      <p:sp>
        <p:nvSpPr>
          <p:cNvPr id="6" name="Rectangle 5"/>
          <p:cNvSpPr/>
          <p:nvPr/>
        </p:nvSpPr>
        <p:spPr>
          <a:xfrm>
            <a:off x="6263640" y="1783080"/>
            <a:ext cx="5486400" cy="3931920"/>
          </a:xfrm>
          <a:prstGeom prst="rect">
            <a:avLst/>
          </a:prstGeom>
          <a:solidFill>
            <a:srgbClr val="F3F4F6"/>
          </a:solidFill>
          <a:ln w="9525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17-wall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2034540"/>
            <a:ext cx="5486400" cy="3429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263640" y="57607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6B7280"/>
                </a:solidFill>
                <a:latin typeface="Calibri"/>
              </a:rPr>
              <a:t>/wallet — sold, card și istoric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828800"/>
            <a:ext cx="5349240" cy="41148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900" b="1">
                <a:solidFill>
                  <a:srgbClr val="F59E0B"/>
                </a:solidFill>
                <a:latin typeface="Calibri"/>
              </a:rPr>
              <a:t>●  </a:t>
            </a:r>
            <a:r>
              <a:rPr sz="1900">
                <a:solidFill>
                  <a:srgbClr val="1F2937"/>
                </a:solidFill>
                <a:latin typeface="Calibri"/>
              </a:rPr>
              <a:t>Sold disponibil + sold blocat (frozen).</a:t>
            </a:r>
          </a:p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900" b="1">
                <a:solidFill>
                  <a:srgbClr val="F59E0B"/>
                </a:solidFill>
                <a:latin typeface="Calibri"/>
              </a:rPr>
              <a:t>●  </a:t>
            </a:r>
            <a:r>
              <a:rPr sz="1900">
                <a:solidFill>
                  <a:srgbClr val="1F2937"/>
                </a:solidFill>
                <a:latin typeface="Calibri"/>
              </a:rPr>
              <a:t>Card asociat cu depozite și retrageri.</a:t>
            </a:r>
          </a:p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900" b="1">
                <a:solidFill>
                  <a:srgbClr val="F59E0B"/>
                </a:solidFill>
                <a:latin typeface="Calibri"/>
              </a:rPr>
              <a:t>●  </a:t>
            </a:r>
            <a:r>
              <a:rPr sz="1900">
                <a:solidFill>
                  <a:srgbClr val="1F2937"/>
                </a:solidFill>
                <a:latin typeface="Calibri"/>
              </a:rPr>
              <a:t>Tipuri: deposit, withdrawal, payment.</a:t>
            </a:r>
          </a:p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900" b="1">
                <a:solidFill>
                  <a:srgbClr val="F59E0B"/>
                </a:solidFill>
                <a:latin typeface="Calibri"/>
              </a:rPr>
              <a:t>●  </a:t>
            </a:r>
            <a:r>
              <a:rPr sz="1900">
                <a:solidFill>
                  <a:srgbClr val="1F2937"/>
                </a:solidFill>
                <a:latin typeface="Calibri"/>
              </a:rPr>
              <a:t>Istoric paginat și filtrat pe tip/status.</a:t>
            </a:r>
          </a:p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900" b="1">
                <a:solidFill>
                  <a:srgbClr val="F59E0B"/>
                </a:solidFill>
                <a:latin typeface="Calibri"/>
              </a:rPr>
              <a:t>●  </a:t>
            </a:r>
            <a:r>
              <a:rPr sz="1900">
                <a:solidFill>
                  <a:srgbClr val="1F2937"/>
                </a:solidFill>
                <a:latin typeface="Calibri"/>
              </a:rPr>
              <a:t>Comision 5% reținut automat la vânzare.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714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CBD5E1"/>
                </a:solidFill>
                <a:latin typeface="Calibri"/>
              </a:rPr>
              <a:t>Licență 2026  •  AutoVault Marketplace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0" y="653796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CBD5E1"/>
                </a:solidFill>
                <a:latin typeface="Calibri"/>
              </a:rPr>
              <a:t>NestJS  •  React Router 7  •  TypeORM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F2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7315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9601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Dashboard-uri personalizate pe rol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49808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CBD5E1"/>
                </a:solidFill>
                <a:latin typeface="Calibri"/>
              </a:rPr>
              <a:t>Vedere adaptată automat la rolul utilizatorului autentificat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411480"/>
            <a:ext cx="1554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600" b="1">
                <a:solidFill>
                  <a:srgbClr val="CBD5E1"/>
                </a:solidFill>
                <a:latin typeface="Calibri"/>
              </a:rPr>
              <a:t>22 / 25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691640"/>
            <a:ext cx="5486400" cy="3794760"/>
          </a:xfrm>
          <a:prstGeom prst="rect">
            <a:avLst/>
          </a:prstGeom>
          <a:solidFill>
            <a:srgbClr val="F3F4F6"/>
          </a:solidFill>
          <a:ln w="9525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10-buyer-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74520"/>
            <a:ext cx="5486400" cy="3429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55321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6B7280"/>
                </a:solidFill>
                <a:latin typeface="Calibri"/>
              </a:rPr>
              <a:t>Dashboard BUYER — bid-uri, salvări, wallet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1691640"/>
            <a:ext cx="5486400" cy="3794760"/>
          </a:xfrm>
          <a:prstGeom prst="rect">
            <a:avLst/>
          </a:prstGeom>
          <a:solidFill>
            <a:srgbClr val="F3F4F6"/>
          </a:solidFill>
          <a:ln w="9525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20-seller-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874520"/>
            <a:ext cx="5486400" cy="3429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217920" y="55321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6B7280"/>
                </a:solidFill>
                <a:latin typeface="Calibri"/>
              </a:rPr>
              <a:t>Dashboard SELLER — anunțuri, vânzări, câștiguri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5852160"/>
            <a:ext cx="112471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0">
                <a:solidFill>
                  <a:srgbClr val="6B7280"/>
                </a:solidFill>
                <a:latin typeface="Calibri"/>
              </a:rPr>
              <a:t>Comparator dedicat pentru 2-5 vehicule (route /compare) — evidențiază cea mai bună valoare în fiecare categorie.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714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CBD5E1"/>
                </a:solidFill>
                <a:latin typeface="Calibri"/>
              </a:rPr>
              <a:t>Licență 2026  •  AutoVault Marketplace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653796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CBD5E1"/>
                </a:solidFill>
                <a:latin typeface="Calibri"/>
              </a:rPr>
              <a:t>NestJS  •  React Router 7  •  TypeORM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F2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7315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9601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Recomandări de vehicule similare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49808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CBD5E1"/>
                </a:solidFill>
                <a:latin typeface="Calibri"/>
              </a:rPr>
              <a:t>„Mașini asemănătoare" sugerate pe pagina de detaliu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411480"/>
            <a:ext cx="1554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600" b="1">
                <a:solidFill>
                  <a:srgbClr val="CBD5E1"/>
                </a:solidFill>
                <a:latin typeface="Calibri"/>
              </a:rPr>
              <a:t>23 / 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783080"/>
            <a:ext cx="10515600" cy="45720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25000"/>
              </a:lnSpc>
              <a:spcAft>
                <a:spcPts val="1400"/>
              </a:spcAft>
            </a:pPr>
            <a:r>
              <a:rPr sz="2400" b="1">
                <a:solidFill>
                  <a:srgbClr val="F59E0B"/>
                </a:solidFill>
                <a:latin typeface="Calibri"/>
              </a:rPr>
              <a:t>●  </a:t>
            </a:r>
            <a:r>
              <a:rPr sz="2400">
                <a:solidFill>
                  <a:srgbClr val="1F2937"/>
                </a:solidFill>
                <a:latin typeface="Calibri"/>
              </a:rPr>
              <a:t>Endpoint dedicat: GET /vehicles/:id/similar.</a:t>
            </a:r>
          </a:p>
          <a:p>
            <a:pPr algn="l">
              <a:lnSpc>
                <a:spcPct val="125000"/>
              </a:lnSpc>
              <a:spcAft>
                <a:spcPts val="1400"/>
              </a:spcAft>
            </a:pPr>
            <a:r>
              <a:rPr sz="2400" b="1">
                <a:solidFill>
                  <a:srgbClr val="F59E0B"/>
                </a:solidFill>
                <a:latin typeface="Calibri"/>
              </a:rPr>
              <a:t>●  </a:t>
            </a:r>
            <a:r>
              <a:rPr sz="2400">
                <a:solidFill>
                  <a:srgbClr val="1F2937"/>
                </a:solidFill>
                <a:latin typeface="Calibri"/>
              </a:rPr>
              <a:t>Filtrare după aceeași marcă + interval preț ±15%.</a:t>
            </a:r>
          </a:p>
          <a:p>
            <a:pPr algn="l">
              <a:lnSpc>
                <a:spcPct val="125000"/>
              </a:lnSpc>
              <a:spcAft>
                <a:spcPts val="1400"/>
              </a:spcAft>
            </a:pPr>
            <a:r>
              <a:rPr sz="2400" b="1">
                <a:solidFill>
                  <a:srgbClr val="F59E0B"/>
                </a:solidFill>
                <a:latin typeface="Calibri"/>
              </a:rPr>
              <a:t>●  </a:t>
            </a:r>
            <a:r>
              <a:rPr sz="2400">
                <a:solidFill>
                  <a:srgbClr val="1F2937"/>
                </a:solidFill>
                <a:latin typeface="Calibri"/>
              </a:rPr>
              <a:t>Sortare după distanța absolută față de preț.</a:t>
            </a:r>
          </a:p>
          <a:p>
            <a:pPr algn="l">
              <a:lnSpc>
                <a:spcPct val="125000"/>
              </a:lnSpc>
              <a:spcAft>
                <a:spcPts val="1400"/>
              </a:spcAft>
            </a:pPr>
            <a:r>
              <a:rPr sz="2400" b="1">
                <a:solidFill>
                  <a:srgbClr val="F59E0B"/>
                </a:solidFill>
                <a:latin typeface="Calibri"/>
              </a:rPr>
              <a:t>●  </a:t>
            </a:r>
            <a:r>
              <a:rPr sz="2400">
                <a:solidFill>
                  <a:srgbClr val="1F2937"/>
                </a:solidFill>
                <a:latin typeface="Calibri"/>
              </a:rPr>
              <a:t>Returnează top 5 pe pagina de detaliu.</a:t>
            </a:r>
          </a:p>
          <a:p>
            <a:pPr algn="l">
              <a:lnSpc>
                <a:spcPct val="125000"/>
              </a:lnSpc>
              <a:spcAft>
                <a:spcPts val="1400"/>
              </a:spcAft>
            </a:pPr>
            <a:r>
              <a:rPr sz="2400" b="1">
                <a:solidFill>
                  <a:srgbClr val="F59E0B"/>
                </a:solidFill>
                <a:latin typeface="Calibri"/>
              </a:rPr>
              <a:t>●  </a:t>
            </a:r>
            <a:r>
              <a:rPr sz="2400">
                <a:solidFill>
                  <a:srgbClr val="1F2937"/>
                </a:solidFill>
                <a:latin typeface="Calibri"/>
              </a:rPr>
              <a:t>Extensibil cu model ML (KNN, embeddings).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714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CBD5E1"/>
                </a:solidFill>
                <a:latin typeface="Calibri"/>
              </a:rPr>
              <a:t>Licență 2026  •  AutoVault Marketplace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53796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CBD5E1"/>
                </a:solidFill>
                <a:latin typeface="Calibri"/>
              </a:rPr>
              <a:t>NestJS  •  React Router 7  •  TypeORM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F2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7315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9601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Concluzii și dezvoltări viitoare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411480"/>
            <a:ext cx="1554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600" b="1">
                <a:solidFill>
                  <a:srgbClr val="CBD5E1"/>
                </a:solidFill>
                <a:latin typeface="Calibri"/>
              </a:rPr>
              <a:t>24 / 25</a:t>
            </a:r>
          </a:p>
        </p:txBody>
      </p:sp>
      <p:sp>
        <p:nvSpPr>
          <p:cNvPr id="6" name="Rectangle 5"/>
          <p:cNvSpPr/>
          <p:nvPr/>
        </p:nvSpPr>
        <p:spPr>
          <a:xfrm>
            <a:off x="493776" y="1737360"/>
            <a:ext cx="5577840" cy="470916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691640"/>
            <a:ext cx="5577840" cy="470916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91640"/>
            <a:ext cx="5577840" cy="731520"/>
          </a:xfrm>
          <a:prstGeom prst="rect">
            <a:avLst/>
          </a:prstGeom>
          <a:solidFill>
            <a:srgbClr val="0F2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691640"/>
            <a:ext cx="557784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Ce am realizat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606040"/>
            <a:ext cx="5029200" cy="36576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20000"/>
              </a:lnSpc>
              <a:spcAft>
                <a:spcPts val="1000"/>
              </a:spcAft>
            </a:pPr>
            <a:r>
              <a:rPr sz="1800" b="1">
                <a:solidFill>
                  <a:srgbClr val="F59E0B"/>
                </a:solidFill>
                <a:latin typeface="Calibri"/>
              </a:rPr>
              <a:t>●  </a:t>
            </a:r>
            <a:r>
              <a:rPr sz="1800">
                <a:solidFill>
                  <a:srgbClr val="1F2937"/>
                </a:solidFill>
                <a:latin typeface="Calibri"/>
              </a:rPr>
              <a:t>Platformă full-stack funcțională.</a:t>
            </a:r>
          </a:p>
          <a:p>
            <a:pPr algn="l">
              <a:lnSpc>
                <a:spcPct val="120000"/>
              </a:lnSpc>
              <a:spcAft>
                <a:spcPts val="1000"/>
              </a:spcAft>
            </a:pPr>
            <a:r>
              <a:rPr sz="1800" b="1">
                <a:solidFill>
                  <a:srgbClr val="F59E0B"/>
                </a:solidFill>
                <a:latin typeface="Calibri"/>
              </a:rPr>
              <a:t>●  </a:t>
            </a:r>
            <a:r>
              <a:rPr sz="1800">
                <a:solidFill>
                  <a:srgbClr val="1F2937"/>
                </a:solidFill>
                <a:latin typeface="Calibri"/>
              </a:rPr>
              <a:t>Autentificare OAuth + verificare email.</a:t>
            </a:r>
          </a:p>
          <a:p>
            <a:pPr algn="l">
              <a:lnSpc>
                <a:spcPct val="120000"/>
              </a:lnSpc>
              <a:spcAft>
                <a:spcPts val="1000"/>
              </a:spcAft>
            </a:pPr>
            <a:r>
              <a:rPr sz="1800" b="1">
                <a:solidFill>
                  <a:srgbClr val="F59E0B"/>
                </a:solidFill>
                <a:latin typeface="Calibri"/>
              </a:rPr>
              <a:t>●  </a:t>
            </a:r>
            <a:r>
              <a:rPr sz="1800">
                <a:solidFill>
                  <a:srgbClr val="1F2937"/>
                </a:solidFill>
                <a:latin typeface="Calibri"/>
              </a:rPr>
              <a:t>Sistem complet de bid-uri.</a:t>
            </a:r>
          </a:p>
          <a:p>
            <a:pPr algn="l">
              <a:lnSpc>
                <a:spcPct val="120000"/>
              </a:lnSpc>
              <a:spcAft>
                <a:spcPts val="1000"/>
              </a:spcAft>
            </a:pPr>
            <a:r>
              <a:rPr sz="1800" b="1">
                <a:solidFill>
                  <a:srgbClr val="F59E0B"/>
                </a:solidFill>
                <a:latin typeface="Calibri"/>
              </a:rPr>
              <a:t>●  </a:t>
            </a:r>
            <a:r>
              <a:rPr sz="1800">
                <a:solidFill>
                  <a:srgbClr val="1F2937"/>
                </a:solidFill>
                <a:latin typeface="Calibri"/>
              </a:rPr>
              <a:t>Mesagerie peer-to-peer.</a:t>
            </a:r>
          </a:p>
          <a:p>
            <a:pPr algn="l">
              <a:lnSpc>
                <a:spcPct val="120000"/>
              </a:lnSpc>
              <a:spcAft>
                <a:spcPts val="1000"/>
              </a:spcAft>
            </a:pPr>
            <a:r>
              <a:rPr sz="1800" b="1">
                <a:solidFill>
                  <a:srgbClr val="F59E0B"/>
                </a:solidFill>
                <a:latin typeface="Calibri"/>
              </a:rPr>
              <a:t>●  </a:t>
            </a:r>
            <a:r>
              <a:rPr sz="1800">
                <a:solidFill>
                  <a:srgbClr val="1F2937"/>
                </a:solidFill>
                <a:latin typeface="Calibri"/>
              </a:rPr>
              <a:t>Wallet cu tranzacții și sume blocate.</a:t>
            </a:r>
          </a:p>
          <a:p>
            <a:pPr algn="l">
              <a:lnSpc>
                <a:spcPct val="120000"/>
              </a:lnSpc>
              <a:spcAft>
                <a:spcPts val="1000"/>
              </a:spcAft>
            </a:pPr>
            <a:r>
              <a:rPr sz="1800" b="1">
                <a:solidFill>
                  <a:srgbClr val="F59E0B"/>
                </a:solidFill>
                <a:latin typeface="Calibri"/>
              </a:rPr>
              <a:t>●  </a:t>
            </a:r>
            <a:r>
              <a:rPr sz="1800">
                <a:solidFill>
                  <a:srgbClr val="1F2937"/>
                </a:solidFill>
                <a:latin typeface="Calibri"/>
              </a:rPr>
              <a:t>Recomandări de vehicule similare.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90488" y="1737360"/>
            <a:ext cx="5577840" cy="470916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53912" y="1691640"/>
            <a:ext cx="5577840" cy="470916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53912" y="1691640"/>
            <a:ext cx="5577840" cy="731520"/>
          </a:xfrm>
          <a:prstGeom prst="rect">
            <a:avLst/>
          </a:prstGeom>
          <a:solidFill>
            <a:srgbClr val="0F2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53912" y="1691640"/>
            <a:ext cx="557784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Îmbunătățiri viitoare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73952" y="2606040"/>
            <a:ext cx="5029200" cy="36576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20000"/>
              </a:lnSpc>
              <a:spcAft>
                <a:spcPts val="1000"/>
              </a:spcAft>
            </a:pPr>
            <a:r>
              <a:rPr sz="1800" b="1">
                <a:solidFill>
                  <a:srgbClr val="F59E0B"/>
                </a:solidFill>
                <a:latin typeface="Calibri"/>
              </a:rPr>
              <a:t>●  </a:t>
            </a:r>
            <a:r>
              <a:rPr sz="1800">
                <a:solidFill>
                  <a:srgbClr val="1F2937"/>
                </a:solidFill>
                <a:latin typeface="Calibri"/>
              </a:rPr>
              <a:t>Recomandări ML (KNN + embeddings).</a:t>
            </a:r>
          </a:p>
          <a:p>
            <a:pPr algn="l">
              <a:lnSpc>
                <a:spcPct val="120000"/>
              </a:lnSpc>
              <a:spcAft>
                <a:spcPts val="1000"/>
              </a:spcAft>
            </a:pPr>
            <a:r>
              <a:rPr sz="1800" b="1">
                <a:solidFill>
                  <a:srgbClr val="F59E0B"/>
                </a:solidFill>
                <a:latin typeface="Calibri"/>
              </a:rPr>
              <a:t>●  </a:t>
            </a:r>
            <a:r>
              <a:rPr sz="1800">
                <a:solidFill>
                  <a:srgbClr val="1F2937"/>
                </a:solidFill>
                <a:latin typeface="Calibri"/>
              </a:rPr>
              <a:t>Integrare plată: Stripe / MobilPay.</a:t>
            </a:r>
          </a:p>
          <a:p>
            <a:pPr algn="l">
              <a:lnSpc>
                <a:spcPct val="120000"/>
              </a:lnSpc>
              <a:spcAft>
                <a:spcPts val="1000"/>
              </a:spcAft>
            </a:pPr>
            <a:r>
              <a:rPr sz="1800" b="1">
                <a:solidFill>
                  <a:srgbClr val="F59E0B"/>
                </a:solidFill>
                <a:latin typeface="Calibri"/>
              </a:rPr>
              <a:t>●  </a:t>
            </a:r>
            <a:r>
              <a:rPr sz="1800">
                <a:solidFill>
                  <a:srgbClr val="1F2937"/>
                </a:solidFill>
                <a:latin typeface="Calibri"/>
              </a:rPr>
              <a:t>Migrare pe PostgreSQL.</a:t>
            </a:r>
          </a:p>
          <a:p>
            <a:pPr algn="l">
              <a:lnSpc>
                <a:spcPct val="120000"/>
              </a:lnSpc>
              <a:spcAft>
                <a:spcPts val="1000"/>
              </a:spcAft>
            </a:pPr>
            <a:r>
              <a:rPr sz="1800" b="1">
                <a:solidFill>
                  <a:srgbClr val="F59E0B"/>
                </a:solidFill>
                <a:latin typeface="Calibri"/>
              </a:rPr>
              <a:t>●  </a:t>
            </a:r>
            <a:r>
              <a:rPr sz="1800">
                <a:solidFill>
                  <a:srgbClr val="1F2937"/>
                </a:solidFill>
                <a:latin typeface="Calibri"/>
              </a:rPr>
              <a:t>Reviews și rating buyer-seller.</a:t>
            </a:r>
          </a:p>
          <a:p>
            <a:pPr algn="l">
              <a:lnSpc>
                <a:spcPct val="120000"/>
              </a:lnSpc>
              <a:spcAft>
                <a:spcPts val="1000"/>
              </a:spcAft>
            </a:pPr>
            <a:r>
              <a:rPr sz="1800" b="1">
                <a:solidFill>
                  <a:srgbClr val="F59E0B"/>
                </a:solidFill>
                <a:latin typeface="Calibri"/>
              </a:rPr>
              <a:t>●  </a:t>
            </a:r>
            <a:r>
              <a:rPr sz="1800">
                <a:solidFill>
                  <a:srgbClr val="1F2937"/>
                </a:solidFill>
                <a:latin typeface="Calibri"/>
              </a:rPr>
              <a:t>Aplicație mobilă React Native.</a:t>
            </a:r>
          </a:p>
          <a:p>
            <a:pPr algn="l">
              <a:lnSpc>
                <a:spcPct val="120000"/>
              </a:lnSpc>
              <a:spcAft>
                <a:spcPts val="1000"/>
              </a:spcAft>
            </a:pPr>
            <a:r>
              <a:rPr sz="1800" b="1">
                <a:solidFill>
                  <a:srgbClr val="F59E0B"/>
                </a:solidFill>
                <a:latin typeface="Calibri"/>
              </a:rPr>
              <a:t>●  </a:t>
            </a:r>
            <a:r>
              <a:rPr sz="1800">
                <a:solidFill>
                  <a:srgbClr val="1F2937"/>
                </a:solidFill>
                <a:latin typeface="Calibri"/>
              </a:rPr>
              <a:t>Notificări push în timp real.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714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CBD5E1"/>
                </a:solidFill>
                <a:latin typeface="Calibri"/>
              </a:rPr>
              <a:t>Licență 2026  •  AutoVault Marketplace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0" y="653796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CBD5E1"/>
                </a:solidFill>
                <a:latin typeface="Calibri"/>
              </a:rPr>
              <a:t>NestJS  •  React Router 7  •  TypeORM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184648" y="2103120"/>
            <a:ext cx="1828800" cy="12801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2423160"/>
            <a:ext cx="12191695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0" b="1">
                <a:solidFill>
                  <a:srgbClr val="FFFFFF"/>
                </a:solidFill>
                <a:latin typeface="Calibri"/>
              </a:rPr>
              <a:t>Vă mulțumesc!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840480"/>
            <a:ext cx="1219169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4000" b="0">
                <a:solidFill>
                  <a:srgbClr val="F59E0B"/>
                </a:solidFill>
                <a:latin typeface="Calibri"/>
              </a:rPr>
              <a:t>Întrebări?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983480"/>
            <a:ext cx="1219169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Cioara Raul  •  Licență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5532120"/>
            <a:ext cx="121916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CBD5E1"/>
                </a:solidFill>
                <a:latin typeface="Calibri"/>
              </a:rPr>
              <a:t>Universitatea din Oradea  •  Specializarea Calculatoare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