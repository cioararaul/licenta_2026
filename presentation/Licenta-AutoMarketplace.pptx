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4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>
                <a:solidFill>
                  <a:srgbClr val="F59E0B"/>
                </a:solidFill>
                <a:latin typeface="Calibri"/>
              </a:rPr>
              <a:t>LUCRARE DE </a:t>
            </a:r>
            <a:r>
              <a:rPr lang="en-US" sz="2000" b="1" dirty="0">
                <a:solidFill>
                  <a:srgbClr val="F59E0B"/>
                </a:solidFill>
                <a:latin typeface="Calibri"/>
              </a:rPr>
              <a:t>DIPLOMA</a:t>
            </a:r>
            <a:r>
              <a:rPr sz="2000" b="1" dirty="0">
                <a:solidFill>
                  <a:srgbClr val="F59E0B"/>
                </a:solidFill>
                <a:latin typeface="Calibri"/>
              </a:rPr>
              <a:t>  •  SESIUNEA IULIE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CBD5E1"/>
                </a:solidFill>
                <a:latin typeface="Calibri"/>
              </a:rPr>
              <a:t>Universitatea din Oradea  •  Specializarea Calculatoare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13248" y="1874519"/>
            <a:ext cx="1371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Platformă web pentru vânzarea și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1752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cumpărarea</a:t>
            </a:r>
            <a:r>
              <a:rPr sz="4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4600" b="1" dirty="0" err="1">
                <a:solidFill>
                  <a:srgbClr val="FFFFFF"/>
                </a:solidFill>
                <a:latin typeface="Calibri"/>
              </a:rPr>
              <a:t>automobilelor</a:t>
            </a:r>
            <a:endParaRPr sz="4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406908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>
                <a:solidFill>
                  <a:srgbClr val="CBD5E1"/>
                </a:solidFill>
                <a:latin typeface="Calibri"/>
              </a:rPr>
              <a:t>utilizând NestJS și React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650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ABSOLVENT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Cioara Raul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650992"/>
            <a:ext cx="5303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F59E0B"/>
                </a:solidFill>
                <a:latin typeface="Calibri"/>
              </a:rPr>
              <a:t>COORDONATOR ȘTIINȚIFIC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98932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Calibri"/>
              </a:rPr>
              <a:t>Pecherle George-Dominic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Stiva tehnologică completă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Tehnologii moderne pentru un marketplace web complet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2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78308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PARTEA DE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40487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NestJS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546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Cadru Node.js modular cu injecție de dependențe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82696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82696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82696" y="178308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LIMBAJ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0487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31546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Tipare statice, decoratori și obiecte de transfer validate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1344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1344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81344" y="178308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BAZĂ DE 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40487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SQLite + TypeORM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31546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Mapare relațională cu sincronizare automată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16568" y="173736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79992" y="169164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79992" y="169164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79992" y="178308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AUTENTIFICARE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240487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JWT + OAuth2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1546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Jetoane de acces și reîmprospătare, Google și Facebook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84048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84048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4048" y="420624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INTERFAȚA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" y="482803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React 19 + RR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" y="557784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Randare pe server cu React Router în mod cadru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9272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82696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82696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82696" y="420624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STARE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19856" y="482803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Zustand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11296" y="557784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Magazine persistente în memoria locală a browserului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181344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181344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81344" y="420624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STILIZARE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482803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Tailwind CSS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9944" y="557784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Utilitar-first cu jetoane de design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16568" y="4160520"/>
            <a:ext cx="278892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079992" y="4114800"/>
            <a:ext cx="27889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79992" y="4114800"/>
            <a:ext cx="278892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079992" y="4206240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MEDIA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152" y="4828032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234E"/>
                </a:solidFill>
                <a:latin typeface="Calibri"/>
              </a:rPr>
              <a:t>Cloudinary + Multer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08592" y="557784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Calibri"/>
              </a:rPr>
              <a:t>Încărcare optimizată de imagini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Securitate și servicii externe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Cum am asigurat protecția datelor utilizatorilor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3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Jetoane JWT cu 2 secrete: acces (15 min) + reîmprospătare (7 zile).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Listă neagră de jetoane pentru invalidarea sesiunilor la deconectare.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Parole cifrate cu scrypt și sare aleatorie.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Limitare: max 5 încercări de autentificare pe minut.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OAuth2 prin Passport.js (Google și Facebook).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Cloudinary pentru imagini, Mailtrap SMTP pentru trimitere email.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Arhitectura generală a aplicației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Fluxul datelor: client → interfață programatică → mapare relațională → bază de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4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728216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1920240" cy="10789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1920240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56232"/>
            <a:ext cx="8732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Browser (React 19, Vite, Tailwind CSS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31720"/>
            <a:ext cx="8732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Pagini randate pe server și client, magazine Zustand cu persistență în browser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2898648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862072"/>
            <a:ext cx="1920240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920240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026664"/>
            <a:ext cx="8732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Axios cu interceptori de rețea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502152"/>
            <a:ext cx="8732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Jeton de acces automat, reîmprospătare automată la eroare 401, coadă de cereri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4069080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32504"/>
            <a:ext cx="1920240" cy="1078992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032504"/>
            <a:ext cx="1920240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97096"/>
            <a:ext cx="8732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Controlere NestJS cu gardieni de rute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672584"/>
            <a:ext cx="8732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Conductă de validare globală, autentificare JWT, limitare cereri, CORS configurat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" y="5239512"/>
            <a:ext cx="10881360" cy="107899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920240" cy="10789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5202936"/>
            <a:ext cx="1920240" cy="107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367528"/>
            <a:ext cx="8732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234E"/>
                </a:solidFill>
                <a:latin typeface="Calibri"/>
              </a:rPr>
              <a:t>TypeORM → SQLite în mod WAL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843016"/>
            <a:ext cx="8732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Entități și relații tipate, sincronizare automată a schemei în dezvoltare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Modelul de date — entități și relații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Diagrama entitate-relație cu cele 9 entități principale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5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737360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3611880" cy="502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764792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Cumpărător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soldDisponibil, monedă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33472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totalCheltuit, alerteVehicule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6" y="1737360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06240" y="1691640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0F2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691640"/>
            <a:ext cx="3611880" cy="5029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1764792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Utilizator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id, adresăEmail, parolă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33472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rol, prenume, numeFamilie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93522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emailVerificat, datăCreare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7576" y="1737360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01000" y="1691640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01000" y="1691640"/>
            <a:ext cx="36118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80" y="1764792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Vehicul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31720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marcă, model, 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633472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preț, kilometraj, combustibil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93522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imagini, vizualizări, stare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364992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3319272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3319272"/>
            <a:ext cx="3611880" cy="502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3392424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Vânzător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959352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soldDisponibil, IBAN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26110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cotăComision, evaluare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42816" y="3364992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06240" y="3319272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06240" y="3319272"/>
            <a:ext cx="36118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0" y="3392424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Conversație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959352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idCumpărător, idVânzător, idVehicul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26110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necititeCumpărător, necititeVânzător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62856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ultimMesaj, datăUltimMesaj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37576" y="3364992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1000" y="3319272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01000" y="3319272"/>
            <a:ext cx="36118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83880" y="3392424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Ofertă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80" y="3959352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sumă, stare, mesaj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3880" y="426110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expirăLa, motivRespingere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4562856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idCumpărător, idVehicul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" y="4992624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11480" y="4946904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11480" y="4946904"/>
            <a:ext cx="3611880" cy="5029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" y="5020056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VehiculSalvat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558698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idUtilizator, idVehicul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5888736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unic (idUtilizator, idVehicul)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42816" y="4992624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206240" y="4946904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206240" y="4946904"/>
            <a:ext cx="36118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389120" y="5020056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Mesaj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558698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conținut, stare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20" y="5888736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idTrimițător, idConversație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6190488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datăCreare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37576" y="4992624"/>
            <a:ext cx="3611880" cy="15087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001000" y="4946904"/>
            <a:ext cx="36118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001000" y="4946904"/>
            <a:ext cx="36118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83880" y="5020056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Tranzacție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83880" y="5586984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sumă, tip, stare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80" y="5888736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idUtilizator, idReferință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6190488"/>
            <a:ext cx="333756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descriere, datăCreare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Module ale serverului NestJS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9 module principale, fiecare cu controler, serviciu, entitate și obiect de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6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6479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utilizatori / autentificare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Înregistrare, autentificare, JWT, OAuth, verificare email, resetare parolă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002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6479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vehicule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22199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Operații complete pe anunțuri cu 40+ câmpuri tehnice; filtrare și sortare avansată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0020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76479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oferte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22199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Plasare oferte de cumpărători, acceptare/respingere de vânzători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27355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mesaje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3075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Conversații persistente cumpărător-vânzător-vehicul cu urmărire necitite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310896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60" y="327355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vehicule-salvate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3075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Listă de favorite per cumpărător cu constrângere de unicitate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310896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327355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portofel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73075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Carduri, depozite, retrageri, sume blocate pentru oferte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1772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7823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tablou-de-bord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3951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Agregare metrici în funcție de rol (CUMPĂRĂTOR / VÂNZĂTOR)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461772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0560" y="47823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încărcare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23951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Încărcare imagini pe Cloudinary cu middleware Multer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4617720"/>
            <a:ext cx="3657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47823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234E"/>
                </a:solidFill>
                <a:latin typeface="Calibri"/>
              </a:rPr>
              <a:t>comun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5239512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Gardieni de rute, decoratori, filtre de excepții, configurare limitare cereri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Tipuri de utilizatori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Patru roluri cu acces granular pe resurse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7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737360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691640"/>
            <a:ext cx="1600200" cy="22402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2103120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CUMPĂRĂTOR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Calibri"/>
              </a:rPr>
              <a:t>rol pentru achiziții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920240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Caută și filtrează vehicule.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Salvează favorite și compară mașini.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Plasează oferte pe vehicule.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Comunică prin mesagerie.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Portofel cu sume blocate.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737360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691640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9632" y="1691640"/>
            <a:ext cx="1664208" cy="2240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9632" y="2103120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VÂNZĂTOR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697480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Calibri"/>
              </a:rPr>
              <a:t>rol pentru vânzări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1920240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Adaugă anunțuri detaliate.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Editează și marchează ca VÂNDUT.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Acceptă sau respinge oferte.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Comunică cu cumpărătorii.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Vede câștiguri și comisioane.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4142232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4096512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4096512"/>
            <a:ext cx="1600200" cy="2240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4507992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VIZITATOR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102352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Calibri"/>
              </a:rPr>
              <a:t>rol pentru navigare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325112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Acces public la anunțuri.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Vede detalii complete.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Nu poate salva sau oferta.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Invitat să se autentifice.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4142232"/>
            <a:ext cx="5669280" cy="224028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9632" y="4096512"/>
            <a:ext cx="56692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9632" y="4096512"/>
            <a:ext cx="1664208" cy="224028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69152" y="4500741"/>
            <a:ext cx="17251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Calibri"/>
              </a:rPr>
              <a:t>ADMINISTRATOR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5102352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Calibri"/>
              </a:rPr>
              <a:t>rol de administrare (în dezvoltare)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2712" y="4325112"/>
            <a:ext cx="3749040" cy="1874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Rapoarte agregate.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Pregătit la nivel de entitate.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  <a:latin typeface="Calibri"/>
              </a:rPr>
              <a:t>●  </a:t>
            </a:r>
            <a:r>
              <a:rPr sz="1600">
                <a:solidFill>
                  <a:srgbClr val="1F2937"/>
                </a:solidFill>
                <a:latin typeface="Calibri"/>
              </a:rPr>
              <a:t>Implementare planificată.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  <a:latin typeface="Calibri"/>
              </a:rPr>
              <a:t>Cerințe</a:t>
            </a:r>
            <a:r>
              <a:rPr sz="3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Calibri"/>
              </a:rPr>
              <a:t>funcționale</a:t>
            </a:r>
            <a:r>
              <a:rPr sz="3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Calibri"/>
              </a:rPr>
              <a:t>și</a:t>
            </a:r>
            <a:r>
              <a:rPr sz="3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3200" b="1" dirty="0">
                <a:solidFill>
                  <a:srgbClr val="FFFFFF"/>
                </a:solidFill>
                <a:latin typeface="Calibri"/>
              </a:rPr>
              <a:t>de </a:t>
            </a:r>
            <a:r>
              <a:rPr lang="en-US" sz="3200" b="1" dirty="0" err="1">
                <a:solidFill>
                  <a:srgbClr val="FFFFFF"/>
                </a:solidFill>
                <a:latin typeface="Calibri"/>
              </a:rPr>
              <a:t>calitate</a:t>
            </a:r>
            <a:endParaRPr sz="3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8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Funcționale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Autentificare locală și prin furnizori externi.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Operații complete pe anunțuri.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Sistem de oferte cu stări multiple.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Mesagerie cu urmărire mesaje necitite.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Portofel cu sume blocate.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Recomandări vehicule similare.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53912" y="1888123"/>
            <a:ext cx="55778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/>
              </a:rPr>
              <a:t>De </a:t>
            </a:r>
            <a:r>
              <a:rPr lang="en-US" sz="2200" b="1" dirty="0" err="1">
                <a:solidFill>
                  <a:srgbClr val="FFFFFF"/>
                </a:solidFill>
                <a:latin typeface="Calibri"/>
              </a:rPr>
              <a:t>calitate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73952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Securitate: JWT, scrypt, CORS.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Limitare pe rutele sensibile.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Performanță: paginare și randare pe server.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Disponibilitate: SQLite în mod WAL.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Uzabilitate: responsiv, interfață în română.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Mentenabilitate: arhitectură modulară.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Autentificare și înregistrare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Autentificare locală și prin Google / Facebook, cu protecție împotriva atacurilor de forță brută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9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394960" cy="35204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65935"/>
            <a:ext cx="5394960" cy="3371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2578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Autentificare — email / parolă sau cont Google / Facebook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691640"/>
            <a:ext cx="5394960" cy="352044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02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24" y="1691640"/>
            <a:ext cx="5188775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28232" y="52578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Înregistrare — creare cont nou cu validare câmpuri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5623560"/>
            <a:ext cx="27889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5623560"/>
            <a:ext cx="1005840" cy="6858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5623560"/>
            <a:ext cx="1005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JWT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733288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Acces 15 min + reîmprospătare 7 zile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0984" y="5623560"/>
            <a:ext cx="27889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00984" y="5623560"/>
            <a:ext cx="1005840" cy="6858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00984" y="5623560"/>
            <a:ext cx="1005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scrypt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5733288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Parole cifrate cu sare aleatorie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5623560"/>
            <a:ext cx="27889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5623560"/>
            <a:ext cx="1005840" cy="6858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5623560"/>
            <a:ext cx="1005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Throttling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6912" y="5733288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Max 5 încercări / minut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34856" y="5623560"/>
            <a:ext cx="278892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34856" y="5623560"/>
            <a:ext cx="1005840" cy="6858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34856" y="5623560"/>
            <a:ext cx="1005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Email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13848" y="5733288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Verificare adresă la înregistrare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Listarea și filtrarea anunțurilor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Filtrare după marcă, model, preț, an, combustibil, transmisie și localitate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10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783080"/>
            <a:ext cx="10360152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1-find-veh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32" y="1783080"/>
            <a:ext cx="6876288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200 de vehicule disponibile din 10 producători diferiți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Pagina de detaliu vehicul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Peste 40 de câmpuri tehnice, galerie de imagini și contact direct cu vânzătorul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11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783080"/>
            <a:ext cx="10360152" cy="42976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2-veh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32" y="1783080"/>
            <a:ext cx="6876288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Pagina de detaliu cu informații complete și vehicule similare sugerate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Sistemul de oferte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12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486400" cy="3931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15-bi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34540"/>
            <a:ext cx="54864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7607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Oferte active și istoric complet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3492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Ofertă cu sumă și mesaj de negociere.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Stări: în așteptare, acceptată, respinsă, retrasă.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La acceptare → vehiculul devine VÂNDUT.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Suma cumpărătorului este blocată în portofel.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Doar rolul CUMPĂRĂTOR poate plasa oferte.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Mesagerie cumpărător — vânzător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13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486400" cy="3931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16b-messages-th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4540"/>
            <a:ext cx="54864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Fir complet de conversație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492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Conversații directe între cumpărător și vânzător.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Editare și ștergere mesaje individuale.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Ștergere completă a conversației.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Urmărire separată a mesajelor necitite per participant.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Inițiere din pagina de detaliu a vehiculului.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Portofel digital și tranzacții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14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486400" cy="393192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17-wa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34540"/>
            <a:ext cx="548640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7607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Sold, card și istoric tranzacții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3492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Sold disponibil și sold blocat.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Card asociat cu depozite și retrageri.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Tipuri: depozit, retragere, plată.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Istoric paginat și filtrat pe tip/stare.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1">
                <a:solidFill>
                  <a:srgbClr val="F59E0B"/>
                </a:solidFill>
                <a:latin typeface="Calibri"/>
              </a:rPr>
              <a:t>●  </a:t>
            </a:r>
            <a:r>
              <a:rPr sz="1900">
                <a:solidFill>
                  <a:srgbClr val="1F2937"/>
                </a:solidFill>
                <a:latin typeface="Calibri"/>
              </a:rPr>
              <a:t>Comision de 5% reținut automat la vânzare.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Tablouri de bord personalizate pe 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Vedere adaptată automat la rolul utilizatorului autentificat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15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37947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0-buy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20"/>
            <a:ext cx="5486400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Tablou de bord CUMPĂRĂTOR — oferte, salvări, portofel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486400" cy="379476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20-selle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74520"/>
            <a:ext cx="5486400" cy="3429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55321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Tablou de bord VÂNZĂTOR — anunțuri, vânzări, câștiguri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Comparator dedicat pentru 2-5 vehicule — evidențiază cea mai bună valoare în fiecare categorie.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Recomandări de vehicule similare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„Vehicule asemănătoare" sugerate pe pagina de detaliu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Rută dedicată: GET /vehicule/:id/similare.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Filtrare după aceeași marcă și interval de preț ±15%.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Sortare după distanța absolută față de prețul de referință.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Returnează primele 5 vehicule pe pagina de detaliu.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400" b="1">
                <a:solidFill>
                  <a:srgbClr val="F59E0B"/>
                </a:solidFill>
                <a:latin typeface="Calibri"/>
              </a:rPr>
              <a:t>●  </a:t>
            </a:r>
            <a:r>
              <a:rPr sz="2400">
                <a:solidFill>
                  <a:srgbClr val="1F2937"/>
                </a:solidFill>
                <a:latin typeface="Calibri"/>
              </a:rPr>
              <a:t>Extensibil cu algoritm de învățare automată (KNN, vectori).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Concluzii și îmbunătățiri viitoare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41148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>
                <a:solidFill>
                  <a:srgbClr val="CBD5E1"/>
                </a:solidFill>
                <a:latin typeface="Calibri"/>
              </a:rPr>
              <a:t>17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Ce am realizat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Platformă web completă și funcțională.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Autentificare OAuth și verificare email.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Sistem complet de oferte.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Mesagerie directă între utilizatori.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Portofel cu tranzacții și sume blocate.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Recomandări de vehicule similare.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737360"/>
            <a:ext cx="5577840" cy="4709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577840" cy="4709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53912" y="169164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Îmbunătățiri viitoare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60604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Traducere completă a componentelor (i18n).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Integrare plată prin Stripe.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Arhitectură mai curată pe straturi.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Aplicație mobilă React Native.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Roluri suplimentare cu beneficii distincte.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●  </a:t>
            </a:r>
            <a:r>
              <a:rPr sz="1800">
                <a:solidFill>
                  <a:srgbClr val="1F2937"/>
                </a:solidFill>
                <a:latin typeface="Calibri"/>
              </a:rPr>
              <a:t>Notificări în timp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7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Licență 2026  •  AutoVault Marketplace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37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  <a:latin typeface="Calibri"/>
              </a:rPr>
              <a:t>NestJS  •  React Router 7  •  TypeORM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184648" y="2103120"/>
            <a:ext cx="182880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423160"/>
            <a:ext cx="1219169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Vă mulțumesc!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>
                <a:solidFill>
                  <a:srgbClr val="F59E0B"/>
                </a:solidFill>
                <a:latin typeface="Calibri"/>
              </a:rPr>
              <a:t>Întrebări?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834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Cioara Raul  •  Licență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CBD5E1"/>
                </a:solidFill>
                <a:latin typeface="Calibri"/>
              </a:rPr>
              <a:t>Universitatea din Oradea  •  Specializarea Calculatoare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1505</Words>
  <Application>Microsoft Office PowerPoint</Application>
  <PresentationFormat>Ecran lat</PresentationFormat>
  <Paragraphs>272</Paragraphs>
  <Slides>18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2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CIOARA RAUL</cp:lastModifiedBy>
  <cp:revision>2</cp:revision>
  <dcterms:created xsi:type="dcterms:W3CDTF">2013-01-27T09:14:16Z</dcterms:created>
  <dcterms:modified xsi:type="dcterms:W3CDTF">2026-06-28T22:15:02Z</dcterms:modified>
  <cp:category/>
</cp:coreProperties>
</file>