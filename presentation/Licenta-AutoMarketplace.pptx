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Calibri"/>
              </a:rPr>
              <a:t>LUCRARE DE DIPLOMĂ  •  SESIUNEA IULIE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Universitatea din Oradea  •  Specializarea Calculatoare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1874519"/>
            <a:ext cx="137160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Platformă web pentru vânzarea și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cumpărarea automobilelor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06908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>
                <a:solidFill>
                  <a:srgbClr val="CBD5E1"/>
                </a:solidFill>
                <a:latin typeface="Calibri"/>
              </a:rPr>
              <a:t>utilizând NestJS și 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6509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ABSOLVENT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Cioara Raul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650992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F59E0B"/>
                </a:solidFill>
                <a:latin typeface="Calibri"/>
              </a:rPr>
              <a:t>COORDONATOR ȘTIINȚIFIC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98932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Ș.L.DR.ING. PECHERLE GEORGE-DOMINIC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Stiva tehnologică completă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Tehnologii moderne pentru un marketplace web complet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2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737360"/>
            <a:ext cx="278892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91640"/>
            <a:ext cx="27889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2788920" cy="5029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83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PARTEA DE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404872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F234E"/>
                </a:solidFill>
                <a:latin typeface="Calibri"/>
              </a:rPr>
              <a:t>NestJS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5468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Cadru Node.js modular cu injecție de dependențe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9272" y="1737360"/>
            <a:ext cx="278892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82696" y="1691640"/>
            <a:ext cx="27889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82696" y="1691640"/>
            <a:ext cx="2788920" cy="5029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2696" y="1783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LIMBAJ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404872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F234E"/>
                </a:solidFill>
                <a:latin typeface="Calibri"/>
              </a:rPr>
              <a:t>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1296" y="315468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Tipare statice, decoratori și obiecte de transfer validate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737360"/>
            <a:ext cx="278892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1344" y="1691640"/>
            <a:ext cx="27889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1691640"/>
            <a:ext cx="2788920" cy="5029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1783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BAZĂ DE 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404872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F234E"/>
                </a:solidFill>
                <a:latin typeface="Calibri"/>
              </a:rPr>
              <a:t>SQLite + TypeORM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15468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Mapare relațională cu sincronizare automată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16568" y="1737360"/>
            <a:ext cx="278892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79992" y="1691640"/>
            <a:ext cx="27889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79992" y="1691640"/>
            <a:ext cx="2788920" cy="5029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178308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AUTENTIFICARE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2404872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F234E"/>
                </a:solidFill>
                <a:latin typeface="Calibri"/>
              </a:rPr>
              <a:t>JWT + OAuth2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08592" y="315468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Jetoane de acces și reîmprospătare, Google și Facebook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4160520"/>
            <a:ext cx="278892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114800"/>
            <a:ext cx="27889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" y="4114800"/>
            <a:ext cx="2788920" cy="5029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42062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INTERFAȚA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4828032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F234E"/>
                </a:solidFill>
                <a:latin typeface="Calibri"/>
              </a:rPr>
              <a:t>React 19 + RR 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55778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Randare pe server cu React Router în mod cadru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19272" y="4160520"/>
            <a:ext cx="278892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82696" y="4114800"/>
            <a:ext cx="27889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82696" y="4114800"/>
            <a:ext cx="2788920" cy="5029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82696" y="42062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STARE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19856" y="4828032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F234E"/>
                </a:solidFill>
                <a:latin typeface="Calibri"/>
              </a:rPr>
              <a:t>Zustand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1296" y="55778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Magazine persistente în memoria locală a browserului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160520"/>
            <a:ext cx="278892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1344" y="4114800"/>
            <a:ext cx="27889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81344" y="4114800"/>
            <a:ext cx="2788920" cy="5029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81344" y="42062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STILIZARE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8504" y="4828032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F234E"/>
                </a:solidFill>
                <a:latin typeface="Calibri"/>
              </a:rPr>
              <a:t>Tailwind CSS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9944" y="55778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Utilitar-first cu jetoane de design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16568" y="4160520"/>
            <a:ext cx="278892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079992" y="4114800"/>
            <a:ext cx="27889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079992" y="4114800"/>
            <a:ext cx="2788920" cy="5029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9992" y="420624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Calibri"/>
              </a:rPr>
              <a:t>MEDIA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17152" y="4828032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0F234E"/>
                </a:solidFill>
                <a:latin typeface="Calibri"/>
              </a:rPr>
              <a:t>Cloudinary + Multer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8592" y="5577840"/>
            <a:ext cx="2331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Încărcare optimizată de imagini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Securitate și servicii externe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Cum am asigurat protecția datelor utilizatorilor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400" b="1">
                <a:solidFill>
                  <a:srgbClr val="F59E0B"/>
                </a:solidFill>
                <a:latin typeface="Calibri"/>
              </a:rPr>
              <a:t>●  </a:t>
            </a:r>
            <a:r>
              <a:rPr sz="2400">
                <a:solidFill>
                  <a:srgbClr val="1F2937"/>
                </a:solidFill>
                <a:latin typeface="Calibri"/>
              </a:rPr>
              <a:t>Jetoane JWT cu 2 secrete: acces (15 min) + reîmprospătare (7 zile).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400" b="1">
                <a:solidFill>
                  <a:srgbClr val="F59E0B"/>
                </a:solidFill>
                <a:latin typeface="Calibri"/>
              </a:rPr>
              <a:t>●  </a:t>
            </a:r>
            <a:r>
              <a:rPr sz="2400">
                <a:solidFill>
                  <a:srgbClr val="1F2937"/>
                </a:solidFill>
                <a:latin typeface="Calibri"/>
              </a:rPr>
              <a:t>Listă neagră de jetoane pentru invalidarea sesiunilor la deconectare.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400" b="1">
                <a:solidFill>
                  <a:srgbClr val="F59E0B"/>
                </a:solidFill>
                <a:latin typeface="Calibri"/>
              </a:rPr>
              <a:t>●  </a:t>
            </a:r>
            <a:r>
              <a:rPr sz="2400">
                <a:solidFill>
                  <a:srgbClr val="1F2937"/>
                </a:solidFill>
                <a:latin typeface="Calibri"/>
              </a:rPr>
              <a:t>Parole cifrate cu scrypt și salt aleatoriu.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400" b="1">
                <a:solidFill>
                  <a:srgbClr val="F59E0B"/>
                </a:solidFill>
                <a:latin typeface="Calibri"/>
              </a:rPr>
              <a:t>●  </a:t>
            </a:r>
            <a:r>
              <a:rPr sz="2400">
                <a:solidFill>
                  <a:srgbClr val="1F2937"/>
                </a:solidFill>
                <a:latin typeface="Calibri"/>
              </a:rPr>
              <a:t>Limitare: max 5 încercări de autentificare pe minut.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400" b="1">
                <a:solidFill>
                  <a:srgbClr val="F59E0B"/>
                </a:solidFill>
                <a:latin typeface="Calibri"/>
              </a:rPr>
              <a:t>●  </a:t>
            </a:r>
            <a:r>
              <a:rPr sz="2400">
                <a:solidFill>
                  <a:srgbClr val="1F2937"/>
                </a:solidFill>
                <a:latin typeface="Calibri"/>
              </a:rPr>
              <a:t>OAuth2 prin Passport.js (Google și Facebook).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400" b="1">
                <a:solidFill>
                  <a:srgbClr val="F59E0B"/>
                </a:solidFill>
                <a:latin typeface="Calibri"/>
              </a:rPr>
              <a:t>●  </a:t>
            </a:r>
            <a:r>
              <a:rPr sz="2400">
                <a:solidFill>
                  <a:srgbClr val="1F2937"/>
                </a:solidFill>
                <a:latin typeface="Calibri"/>
              </a:rPr>
              <a:t>Cloudinary pentru imagini, Mailtrap SMTP pentru trimitere email.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Arhitectura generală a aplicației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Fluxul datelor: client → interfață programatică → mapare relațională → bază de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4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" y="1728216"/>
            <a:ext cx="10881360" cy="10789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91640"/>
            <a:ext cx="1088136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1920240" cy="107899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1920240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56232"/>
            <a:ext cx="8732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34E"/>
                </a:solidFill>
                <a:latin typeface="Calibri"/>
              </a:rPr>
              <a:t>Browser (React 19, Vite, Tailwind CSS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331720"/>
            <a:ext cx="8732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Pagini randate pe server și client, magazine Zustand cu persistență în browser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2898648"/>
            <a:ext cx="10881360" cy="10789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62072"/>
            <a:ext cx="1088136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62072"/>
            <a:ext cx="1920240" cy="10789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62072"/>
            <a:ext cx="1920240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026664"/>
            <a:ext cx="8732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34E"/>
                </a:solidFill>
                <a:latin typeface="Calibri"/>
              </a:rPr>
              <a:t>Axios cu interceptori de rețea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02152"/>
            <a:ext cx="8732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Jeton de acces automat, reîmprospătare automată la eroare 401, coadă de cereri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4069080"/>
            <a:ext cx="10881360" cy="10789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032504"/>
            <a:ext cx="1088136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032504"/>
            <a:ext cx="1920240" cy="1078992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032504"/>
            <a:ext cx="1920240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97096"/>
            <a:ext cx="8732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34E"/>
                </a:solidFill>
                <a:latin typeface="Calibri"/>
              </a:rPr>
              <a:t>Controlere NestJS cu gardieni de rute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672584"/>
            <a:ext cx="8732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Conductă de validare globală, autentificare JWT, limitare cereri, CORS configurat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5239512"/>
            <a:ext cx="10881360" cy="107899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202936"/>
            <a:ext cx="1088136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202936"/>
            <a:ext cx="1920240" cy="10789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202936"/>
            <a:ext cx="1920240" cy="10789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67528"/>
            <a:ext cx="8732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34E"/>
                </a:solidFill>
                <a:latin typeface="Calibri"/>
              </a:rPr>
              <a:t>TypeORM → SQLite în mod WAL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843016"/>
            <a:ext cx="8732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Entități și relații tipate, sincronizare automată a schemei în dezvoltare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Modelul de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Cele 9 entități principale și câmpurile lor cheie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1709928"/>
            <a:ext cx="3520440" cy="1417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64208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3520440" cy="4754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71907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Cumpărător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311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soldDisponibil, monedă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5054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totalCheltuit, alerteVehicule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709928"/>
            <a:ext cx="3520440" cy="1417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1664208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0F23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664208"/>
            <a:ext cx="3520440" cy="475488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4" y="171907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Utilizator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4" y="22311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id, adresăEmail, parolă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5054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rol, prenume, numeFamilie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3984" y="27797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emailVerificat, datăCreare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1709928"/>
            <a:ext cx="3520440" cy="1417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47304" y="1664208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47304" y="1664208"/>
            <a:ext cx="352044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71907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Vehicul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2311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marcă, model, 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25054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preț, kilometraj, combustibil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27797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imagini, vizualizări, stare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" y="3401568"/>
            <a:ext cx="3520440" cy="1417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355848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355848"/>
            <a:ext cx="3520440" cy="4754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341071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Vânzător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39227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soldDisponibil, IBAN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" y="41970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cotăComision, evaluare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3401568"/>
            <a:ext cx="3520440" cy="1417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9392" y="3355848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355848"/>
            <a:ext cx="3520440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43984" y="341071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Conversație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3984" y="39227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idCumpărător, idVânzător, idVehicul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43984" y="41970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necititeCumpărător, necititeVânzător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4" y="44714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ultimMesaj, datăUltimMesaj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80" y="3401568"/>
            <a:ext cx="3520440" cy="1417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47304" y="3355848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47304" y="3355848"/>
            <a:ext cx="3520440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1896" y="341071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Ofertă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1896" y="392277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sumă, stare, mesaj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1896" y="41970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expirăLa, motivRespingere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1896" y="44714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idCumpărător, idVehicul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8056" y="5093208"/>
            <a:ext cx="3520440" cy="1417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5047488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5047488"/>
            <a:ext cx="3520440" cy="4754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510235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VehiculSalvat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" y="56144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idUtilizator, idVehicul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" y="5888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unic (idUtilizator, idVehicul)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15968" y="5093208"/>
            <a:ext cx="3520440" cy="1417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79392" y="5047488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279392" y="5047488"/>
            <a:ext cx="3520440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43984" y="510235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Mesaj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43984" y="56144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conținut, stare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43984" y="5888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idTrimițător, idConversație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43984" y="6163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datăCreare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83880" y="5093208"/>
            <a:ext cx="3520440" cy="141732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47304" y="5047488"/>
            <a:ext cx="35204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47304" y="5047488"/>
            <a:ext cx="352044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11896" y="5102352"/>
            <a:ext cx="3291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Calibri"/>
              </a:rPr>
              <a:t>Tranzacție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1896" y="56144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sumă, tip, stare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11896" y="5888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idUtilizator, idReferință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11896" y="61630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descriere, datăCreare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Module ale serverului NestJS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9 module principale, fiecare cu controler, serviciu, entitate și obiect de transfer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6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6479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34E"/>
                </a:solidFill>
                <a:latin typeface="Calibri"/>
              </a:rPr>
              <a:t>utilizatori / autentificare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2199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Înregistrare, autentificare, JWT, OAuth, verificare email, resetare parolă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0020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76479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34E"/>
                </a:solidFill>
                <a:latin typeface="Calibri"/>
              </a:rPr>
              <a:t>vehicule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2199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Operații complete pe anunțuri cu 40+ câmpuri tehnice; filtrare și sortare avansată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0020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34E"/>
                </a:solidFill>
                <a:latin typeface="Calibri"/>
              </a:rPr>
              <a:t>oferte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2199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Plasare oferte de cumpărători, acceptare/respingere de vânzători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7355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34E"/>
                </a:solidFill>
                <a:latin typeface="Calibri"/>
              </a:rPr>
              <a:t>mesaje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3075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Conversații persistente cumpărător-vânzător-vehicul cu urmărire necitite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310896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27355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34E"/>
                </a:solidFill>
                <a:latin typeface="Calibri"/>
              </a:rPr>
              <a:t>vehicule-salvate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73075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Listă de favorite per cumpărător cu constrângere de unicitate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10896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27355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34E"/>
                </a:solidFill>
                <a:latin typeface="Calibri"/>
              </a:rPr>
              <a:t>portofel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73075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Carduri, depozite, retrageri, sume blocate pentru oferte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61772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8231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34E"/>
                </a:solidFill>
                <a:latin typeface="Calibri"/>
              </a:rPr>
              <a:t>tablou-de-bord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3951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Agregare metrici în funcție de rol (CUMPĂRĂTOR / VÂNZĂTOR)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461772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478231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34E"/>
                </a:solidFill>
                <a:latin typeface="Calibri"/>
              </a:rPr>
              <a:t>încărcare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23951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Încărcare imagini pe Cloudinary cu middleware Multer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61772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78231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34E"/>
                </a:solidFill>
                <a:latin typeface="Calibri"/>
              </a:rPr>
              <a:t>comun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239512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Gardieni de rute, decoratori, filtre de excepții, configurare limitare cereri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Tipuri de utilizatori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Patru roluri cu acces granular pe resurse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7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" y="1737360"/>
            <a:ext cx="566928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56692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91640"/>
            <a:ext cx="1828800" cy="22402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031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CUMPĂRĂTOR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Calibri"/>
              </a:rPr>
              <a:t>rol pentru achiziții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1920240"/>
            <a:ext cx="3520440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Caută și filtrează vehicule.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Salvează favorite și compară mașini.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Plasează oferte pe vehicule.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Comunică prin mesagerie.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Portofel cu sume blocate.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37360"/>
            <a:ext cx="566928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691640"/>
            <a:ext cx="56692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691640"/>
            <a:ext cx="1828800" cy="22402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10312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VÂNZĂTOR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6974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Calibri"/>
              </a:rPr>
              <a:t>rol pentru vânzări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20240"/>
            <a:ext cx="3520440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Adaugă anunțuri detaliate.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Editează și marchează ca VÂNDUT.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Acceptă sau respinge oferte.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Comunică cu cumpărătorii.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Vede câștiguri și comisioane.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" y="4142232"/>
            <a:ext cx="566928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096512"/>
            <a:ext cx="56692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096512"/>
            <a:ext cx="1828800" cy="22402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507992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VIZITATOR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51023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Calibri"/>
              </a:rPr>
              <a:t>rol pentru navigare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325112"/>
            <a:ext cx="3520440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Acces public la anunțuri.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Vede detalii complete.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Nu poate salva sau oferta.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Invitat să se autentifice.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4142232"/>
            <a:ext cx="5669280" cy="224028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4096512"/>
            <a:ext cx="56692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4096512"/>
            <a:ext cx="1828800" cy="224028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4507992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ADMINISTRATOR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51023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E5E7EB"/>
                </a:solidFill>
                <a:latin typeface="Calibri"/>
              </a:rPr>
              <a:t>rol de administrare (în dezvoltare)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4325112"/>
            <a:ext cx="3520440" cy="1874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Rapoarte agregate.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Pregătit la nivel de entitate.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600" b="1">
                <a:solidFill>
                  <a:srgbClr val="F59E0B"/>
                </a:solidFill>
                <a:latin typeface="Calibri"/>
              </a:rPr>
              <a:t>●  </a:t>
            </a:r>
            <a:r>
              <a:rPr sz="1600">
                <a:solidFill>
                  <a:srgbClr val="1F2937"/>
                </a:solidFill>
                <a:latin typeface="Calibri"/>
              </a:rPr>
              <a:t>Implementare planificată.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Cerințe funcționale și tehnice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8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737360"/>
            <a:ext cx="5577840" cy="47091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5778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577840" cy="7315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Funcționale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0292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Autentificare locală și prin furnizori externi.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Operații complete pe anunțuri.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Sistem de oferte cu stări multiple.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Mesagerie cu urmărire mesaje necitite.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Portofel cu sume blocate.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Recomandări vehicule similare.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737360"/>
            <a:ext cx="5577840" cy="47091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691640"/>
            <a:ext cx="55778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3912" y="1691640"/>
            <a:ext cx="5577840" cy="7315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69164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Tehnice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606040"/>
            <a:ext cx="50292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Securitate: JWT, scrypt, CORS.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Limitare pe rutele sensibile.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Performanță: paginare și randare pe server.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Disponibilitate: SQLite în mod WAL.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Uzabilitate: responsiv, interfață în română.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Mentenabilitate: arhitectură modulară.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Autentificare și înregistrare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Autentificare locală și prin Google / Facebook, cu protecție împotriva atacurilor de forță brută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9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669280" cy="3520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691640"/>
            <a:ext cx="5632704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2578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Autentificare — email / parolă sau cont Google / Facebook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669280" cy="35204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-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691640"/>
            <a:ext cx="5632704" cy="3520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25780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Înregistrare — creare cont nou cu validare câmpuri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5623560"/>
            <a:ext cx="2788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5623560"/>
            <a:ext cx="1005840" cy="6858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5623560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JWT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73328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Acces 15 min + reîmprospătare 7 zile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00984" y="5623560"/>
            <a:ext cx="2788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00984" y="5623560"/>
            <a:ext cx="1005840" cy="6858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00984" y="5623560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scrypt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573328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Parole cifrate cu salt aleatoriu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623560"/>
            <a:ext cx="2788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5623560"/>
            <a:ext cx="1005840" cy="6858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5623560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Throttling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912" y="573328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Max 5 încercări / minut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34856" y="5623560"/>
            <a:ext cx="2788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34856" y="5623560"/>
            <a:ext cx="1005840" cy="6858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34856" y="5623560"/>
            <a:ext cx="10058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3848" y="5733288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Verificare adresă la înregistrare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Listarea și filtrarea anunțurilor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Filtrare după marcă, model, preț, an, combustibil, transmisie și localitate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10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783080"/>
            <a:ext cx="10360152" cy="42976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-find-vehi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332" y="1783080"/>
            <a:ext cx="6876288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200 de vehicule disponibile din 10 producători diferiți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Pagina de detaliu vehicul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Peste 40 de câmpuri tehnice, galerie de imagini și contact direct cu vânzătorul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11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783080"/>
            <a:ext cx="10360152" cy="42976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-vehicl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332" y="1783080"/>
            <a:ext cx="6876288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Pagina de detaliu cu informații complete și vehicule similare sugerate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Sistemul de oferte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12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83080"/>
            <a:ext cx="5486400" cy="39319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-b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34540"/>
            <a:ext cx="54864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Oferte active și istoric complet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3492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Ofertă cu sumă și mesaj de negociere.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Stări: în așteptare, acceptată, respinsă, retrasă.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La acceptare → vehiculul devine VÂNDUT.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Suma cumpărătorului este blocată în portofel.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Doar rolul CUMPĂRĂTOR poate plasa oferte.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Mesagerie cumpărător — vânzător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13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5486400" cy="39319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b-messages-th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4540"/>
            <a:ext cx="54864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Fir complet de conversație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3492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Conversații directe între cumpărător și vânzător.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Editare și ștergere mesaje individuale.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Ștergere completă a conversației.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Urmărire separată a mesajelor necitite per participant.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Inițiere din pagina de detaliu a vehiculului.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Portofel digital și tranzacții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14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1783080"/>
            <a:ext cx="5486400" cy="39319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-wal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034540"/>
            <a:ext cx="5486400" cy="3429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Sold, card și istoric tranzacții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3492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Sold disponibil și sold blocat.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Card asociat cu depozite și retrageri.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Tipuri: depozit, retragere, plată.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Istoric paginat și filtrat pe tip/stare.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900" b="1">
                <a:solidFill>
                  <a:srgbClr val="F59E0B"/>
                </a:solidFill>
                <a:latin typeface="Calibri"/>
              </a:rPr>
              <a:t>●  </a:t>
            </a:r>
            <a:r>
              <a:rPr sz="1900">
                <a:solidFill>
                  <a:srgbClr val="1F2937"/>
                </a:solidFill>
                <a:latin typeface="Calibri"/>
              </a:rPr>
              <a:t>Comision de 5% reținut automat la vânzare.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Tablouri de bord personalizate pe 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Vedere adaptată automat la rolul utilizatorului autentificat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15 /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37947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-buy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20"/>
            <a:ext cx="54864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532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Tablou de bord CUMPĂRĂTOR — oferte, salvări, portofel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486400" cy="37947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0-seller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874520"/>
            <a:ext cx="5486400" cy="3429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5321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Tablou de bord VÂNZĂTOR — anunțuri, vânzări, câștiguri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Comparator dedicat pentru 2-5 vehicule — evidențiază cea mai bună valoare în fiecare categorie.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Recomandări de vehicule similare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„Vehicule asemănătoare" sugerate pe pagina de detaliu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400" b="1">
                <a:solidFill>
                  <a:srgbClr val="F59E0B"/>
                </a:solidFill>
                <a:latin typeface="Calibri"/>
              </a:rPr>
              <a:t>●  </a:t>
            </a:r>
            <a:r>
              <a:rPr sz="2400">
                <a:solidFill>
                  <a:srgbClr val="1F2937"/>
                </a:solidFill>
                <a:latin typeface="Calibri"/>
              </a:rPr>
              <a:t>Rută dedicată: GET /vehicule/:id/similare.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400" b="1">
                <a:solidFill>
                  <a:srgbClr val="F59E0B"/>
                </a:solidFill>
                <a:latin typeface="Calibri"/>
              </a:rPr>
              <a:t>●  </a:t>
            </a:r>
            <a:r>
              <a:rPr sz="2400">
                <a:solidFill>
                  <a:srgbClr val="1F2937"/>
                </a:solidFill>
                <a:latin typeface="Calibri"/>
              </a:rPr>
              <a:t>Filtrare după aceeași marcă și interval de preț ±15%.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400" b="1">
                <a:solidFill>
                  <a:srgbClr val="F59E0B"/>
                </a:solidFill>
                <a:latin typeface="Calibri"/>
              </a:rPr>
              <a:t>●  </a:t>
            </a:r>
            <a:r>
              <a:rPr sz="2400">
                <a:solidFill>
                  <a:srgbClr val="1F2937"/>
                </a:solidFill>
                <a:latin typeface="Calibri"/>
              </a:rPr>
              <a:t>Sortare după distanța absolută față de prețul de referință.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400" b="1">
                <a:solidFill>
                  <a:srgbClr val="F59E0B"/>
                </a:solidFill>
                <a:latin typeface="Calibri"/>
              </a:rPr>
              <a:t>●  </a:t>
            </a:r>
            <a:r>
              <a:rPr sz="2400">
                <a:solidFill>
                  <a:srgbClr val="1F2937"/>
                </a:solidFill>
                <a:latin typeface="Calibri"/>
              </a:rPr>
              <a:t>Returnează primele 5 vehicule pe pagina de detaliu.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2400" b="1">
                <a:solidFill>
                  <a:srgbClr val="F59E0B"/>
                </a:solidFill>
                <a:latin typeface="Calibri"/>
              </a:rPr>
              <a:t>●  </a:t>
            </a:r>
            <a:r>
              <a:rPr sz="2400">
                <a:solidFill>
                  <a:srgbClr val="1F2937"/>
                </a:solidFill>
                <a:latin typeface="Calibri"/>
              </a:rPr>
              <a:t>Extensibil cu algoritm de învățare automată (KNN, vectori).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Concluzii și îmbunătățiri viitoare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41148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CBD5E1"/>
                </a:solidFill>
                <a:latin typeface="Calibri"/>
              </a:rPr>
              <a:t>17 / 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1737360"/>
            <a:ext cx="5577840" cy="47091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5778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577840" cy="7315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Ce am realizat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50292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Platformă web completă și funcțională.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Autentificare OAuth și verificare email.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Sistem complet de oferte.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Mesagerie directă între utilizatori.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Portofel cu tranzacții și sume blocate.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Recomandări de vehicule similare.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737360"/>
            <a:ext cx="5577840" cy="470916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691640"/>
            <a:ext cx="5577840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3912" y="1691640"/>
            <a:ext cx="5577840" cy="73152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69164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Îmbunătățiri viitoare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606040"/>
            <a:ext cx="5029200" cy="36576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Traducere completă a componentelor (i18n).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Integrare plată prin Stripe.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Arhitectură mai curată pe straturi.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Aplicație mobilă React Native.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Implementare completă a panoului de administrare (ADMIN).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800" b="1">
                <a:solidFill>
                  <a:srgbClr val="F59E0B"/>
                </a:solidFill>
                <a:latin typeface="Calibri"/>
              </a:rPr>
              <a:t>●  </a:t>
            </a:r>
            <a:r>
              <a:rPr sz="1800">
                <a:solidFill>
                  <a:srgbClr val="1F2937"/>
                </a:solidFill>
                <a:latin typeface="Calibri"/>
              </a:rPr>
              <a:t>Notificări în timp real.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71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Licență 2026  •  AutoVault Marketplace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379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0">
                <a:solidFill>
                  <a:srgbClr val="CBD5E1"/>
                </a:solidFill>
                <a:latin typeface="Calibri"/>
              </a:rPr>
              <a:t>NestJS  •  React Router 7  •  TypeORM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84648" y="2103120"/>
            <a:ext cx="182880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23160"/>
            <a:ext cx="121916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Vă mulțumesc!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916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0">
                <a:solidFill>
                  <a:srgbClr val="F59E0B"/>
                </a:solidFill>
                <a:latin typeface="Calibri"/>
              </a:rPr>
              <a:t>Întrebări?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8348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Cioara Raul  •  Licență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5321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Universitatea din Oradea  •  Specializarea Calculatoare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